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58" r:id="rId5"/>
    <p:sldId id="264" r:id="rId6"/>
    <p:sldId id="269" r:id="rId7"/>
    <p:sldId id="270" r:id="rId8"/>
    <p:sldId id="273" r:id="rId9"/>
    <p:sldId id="271" r:id="rId10"/>
    <p:sldId id="259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65" r:id="rId19"/>
    <p:sldId id="266" r:id="rId20"/>
    <p:sldId id="267" r:id="rId21"/>
    <p:sldId id="268" r:id="rId22"/>
    <p:sldId id="281" r:id="rId23"/>
    <p:sldId id="283" r:id="rId24"/>
    <p:sldId id="257" r:id="rId25"/>
    <p:sldId id="272" r:id="rId26"/>
    <p:sldId id="28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B8315-3CF1-83D1-2051-7FA2BF930C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0FC1D5-AC6B-A1EB-75D9-1DF385F6A8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C83D5-C55A-452C-B8D7-ECD75803D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D9AD-11BD-42B4-986F-B967A065435B}" type="datetimeFigureOut">
              <a:rPr lang="en-SG" smtClean="0"/>
              <a:t>10/7/2026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10BDD-A00B-B6D4-10E1-7A8C59B65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FA4EF-FDF2-49BF-7241-ED1FBAC63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6B6E1-22FF-4DA0-92D5-B21642F8B73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22210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5FD36-4BED-D76E-2C95-EFB613914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4D6F2-82FB-160C-46A2-AB8E725D8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550DC-03F2-1094-5C58-AAAA623AE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D9AD-11BD-42B4-986F-B967A065435B}" type="datetimeFigureOut">
              <a:rPr lang="en-SG" smtClean="0"/>
              <a:t>10/7/2026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183B6-72BD-15CA-AAC5-905F48C2B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25C27-9DEC-016D-F101-470F38192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6B6E1-22FF-4DA0-92D5-B21642F8B73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75616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C9DEA-064E-C348-79FC-F872DDEA9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06869-3C7C-5E26-DE13-EBEA675B4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361F7-A1F8-1F78-BC2C-C67D8E397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D9AD-11BD-42B4-986F-B967A065435B}" type="datetimeFigureOut">
              <a:rPr lang="en-SG" smtClean="0"/>
              <a:t>10/7/2026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7E923-A41D-BA3B-15A8-3791799ED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F4C58-31FC-7D58-CA63-9D2B7A1AD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6B6E1-22FF-4DA0-92D5-B21642F8B73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53333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819CC-E934-2CB5-6A11-AC8E2ED85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202B4-1F66-5EDA-8429-1FE328A33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B6212C-9C79-CBB1-CBEE-8F161B376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148B8-2F1C-F845-1AB7-FBA37BBA3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D9AD-11BD-42B4-986F-B967A065435B}" type="datetimeFigureOut">
              <a:rPr lang="en-SG" smtClean="0"/>
              <a:t>10/7/2026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EF3A3-8CC2-E685-5680-28DB3A8F2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F49FB-16E4-3C6A-B7FE-DDB6D2BFD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6B6E1-22FF-4DA0-92D5-B21642F8B73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23972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7E7A5-0F99-66C2-D27B-555E562B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801687-66DB-0BDB-FE0B-64D02F1FD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56FCEC-EF16-3BA5-7F66-2D4CF9E9C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FCB462-789B-EFF3-BAB8-D85DCB01B3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37ACD8-D7CF-9391-52C0-37D65DF69D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2AD847-727D-5B1D-25D2-C9CAF74E4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D9AD-11BD-42B4-986F-B967A065435B}" type="datetimeFigureOut">
              <a:rPr lang="en-SG" smtClean="0"/>
              <a:t>10/7/2026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454B3D-1362-86BB-B156-E7B0E1721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7352F7-045D-5B83-EB4B-6D3E0868C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6B6E1-22FF-4DA0-92D5-B21642F8B73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85139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108A1-07EE-6715-B238-AF12BFC6B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F6B741-90AD-B52C-032E-CD0A38D88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D9AD-11BD-42B4-986F-B967A065435B}" type="datetimeFigureOut">
              <a:rPr lang="en-SG" smtClean="0"/>
              <a:t>10/7/2026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EA6FC5-3828-FD39-1187-203BF0B7F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3EB432-ED5E-8238-0DDA-71724CCD9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6B6E1-22FF-4DA0-92D5-B21642F8B73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1976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0C13BC-F698-46D9-D058-5840C6C1B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D9AD-11BD-42B4-986F-B967A065435B}" type="datetimeFigureOut">
              <a:rPr lang="en-SG" smtClean="0"/>
              <a:t>10/7/2026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3E1F4F-8716-A14E-F304-3E58D4657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48139-FF1D-9EA7-FEF2-2F0F7FB67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6B6E1-22FF-4DA0-92D5-B21642F8B73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53119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03634-D02F-DE5D-E4AF-8C9C01D85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7016F-A785-81EF-E3EF-E027C0C71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45BA47-5CD3-047F-F9F6-024A0AA273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80A69E-F8C2-E0B5-7640-CB0E7B678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D9AD-11BD-42B4-986F-B967A065435B}" type="datetimeFigureOut">
              <a:rPr lang="en-SG" smtClean="0"/>
              <a:t>10/7/2026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D323E9-8950-19BD-212A-2B05A6787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57BC3D-62AC-F247-8737-F4E7F9B01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6B6E1-22FF-4DA0-92D5-B21642F8B73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655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AFAB4-B40B-154A-C97F-987D664DE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B09416-E5F5-BE45-FF8F-CB3029F250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70ACF3-3076-0676-1ACB-7278B4A4F2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4C5914-DFCD-175F-1CB6-99129A85E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D9AD-11BD-42B4-986F-B967A065435B}" type="datetimeFigureOut">
              <a:rPr lang="en-SG" smtClean="0"/>
              <a:t>10/7/2026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48FB3F-4D0B-3414-4796-628CED157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9E41AF-E9EA-F81C-4551-AE4FEDDD0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6B6E1-22FF-4DA0-92D5-B21642F8B73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03163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F00C8-FFC3-F7E4-CA46-48BF34441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E354E3-F9E0-60F7-028B-43C979B7B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E5127-B9D0-9E10-425D-1AFB20017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D9AD-11BD-42B4-986F-B967A065435B}" type="datetimeFigureOut">
              <a:rPr lang="en-SG" smtClean="0"/>
              <a:t>10/7/2026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697D0-FAE6-FB92-1158-8A34317BE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D7478-D611-B436-8EAB-EBD86D09B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6B6E1-22FF-4DA0-92D5-B21642F8B73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04094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32A8EE-5779-5191-2DD9-2F955A9F91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B6B2E2-36DE-8A65-6880-88954CF7B4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33FD6-4CF7-1A2F-CAFA-1BE686FDB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D9AD-11BD-42B4-986F-B967A065435B}" type="datetimeFigureOut">
              <a:rPr lang="en-SG" smtClean="0"/>
              <a:t>10/7/2026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A9436-EFE8-489C-4AB3-EF8AF721F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8BF1E-95F5-3358-9B42-21015B93E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6B6E1-22FF-4DA0-92D5-B21642F8B73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96842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9F7952-1948-2C48-4428-794F73A03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56C23-AAFD-93BA-979E-59B2662EC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A5ACB-B071-7C63-381A-C71678893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4D9AD-11BD-42B4-986F-B967A065435B}" type="datetimeFigureOut">
              <a:rPr lang="en-SG" smtClean="0"/>
              <a:t>10/7/2026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1BFD4-9E75-7963-0209-46643BD6FE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94942-BCAF-4217-DBEB-071A60242B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56B6E1-22FF-4DA0-92D5-B21642F8B73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70722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5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5BC61C-E4E2-6E4B-2DDC-3DBE45628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079" y="2630821"/>
            <a:ext cx="2122326" cy="15963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7D7C68-E282-1EEF-980A-6694C4AE3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660" y="2379294"/>
            <a:ext cx="1904806" cy="2237040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F26EC20B-8CD6-F5F2-D975-E8775A60AD62}"/>
              </a:ext>
            </a:extLst>
          </p:cNvPr>
          <p:cNvGrpSpPr/>
          <p:nvPr/>
        </p:nvGrpSpPr>
        <p:grpSpPr>
          <a:xfrm>
            <a:off x="5073520" y="2273075"/>
            <a:ext cx="2423626" cy="2601632"/>
            <a:chOff x="5073520" y="2245080"/>
            <a:chExt cx="2423626" cy="2601632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2DE93E9-06F0-B81B-8F4C-7BAC7A23B8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6073" y="3340359"/>
              <a:ext cx="867747" cy="550506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C11D7E7-34CC-5F9D-F8FF-B7D868C8BC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55363" y="3881534"/>
              <a:ext cx="741783" cy="43853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C38113DB-15DF-028D-0937-5E70921D099E}"/>
                </a:ext>
              </a:extLst>
            </p:cNvPr>
            <p:cNvGrpSpPr/>
            <p:nvPr/>
          </p:nvGrpSpPr>
          <p:grpSpPr>
            <a:xfrm>
              <a:off x="5073520" y="2245080"/>
              <a:ext cx="1681843" cy="2601632"/>
              <a:chOff x="5073520" y="2245082"/>
              <a:chExt cx="1681843" cy="2601632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11DA280E-915A-2016-7758-D547505004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73520" y="2245082"/>
                <a:ext cx="1532553" cy="2601632"/>
              </a:xfrm>
              <a:prstGeom prst="rect">
                <a:avLst/>
              </a:prstGeom>
            </p:spPr>
          </p:pic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EA9A4E3D-52FC-8C5A-2424-7127841E46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93898" y="4310742"/>
                <a:ext cx="261465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FC77BAEC-8639-127F-6139-499D90DF3F0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06073" y="4021494"/>
                <a:ext cx="0" cy="681134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6A31486-C937-E13F-6939-66E38DD4BF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24630" y="3774771"/>
              <a:ext cx="872516" cy="26849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9D21E221-CE96-74C2-A770-4BE7DB2D7822}"/>
              </a:ext>
            </a:extLst>
          </p:cNvPr>
          <p:cNvSpPr txBox="1"/>
          <p:nvPr/>
        </p:nvSpPr>
        <p:spPr>
          <a:xfrm>
            <a:off x="2167509" y="915008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b="1" i="0" dirty="0">
                <a:effectLst/>
                <a:latin typeface="Roboto" panose="02000000000000000000" pitchFamily="2" charset="0"/>
              </a:rPr>
              <a:t>VC-02-Kit AI Intelligent Offline Voice Recognition Control Module Development Board</a:t>
            </a:r>
            <a:endParaRPr lang="en-SG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44E24C-2D3E-4D2A-9F4D-EA1A9C0CD19F}"/>
              </a:ext>
            </a:extLst>
          </p:cNvPr>
          <p:cNvSpPr txBox="1"/>
          <p:nvPr/>
        </p:nvSpPr>
        <p:spPr>
          <a:xfrm>
            <a:off x="3991169" y="5142182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b="1" i="0" dirty="0">
                <a:effectLst/>
                <a:latin typeface="Roboto" panose="02000000000000000000" pitchFamily="2" charset="0"/>
              </a:rPr>
              <a:t>VC-02-Kit – STANDALONE APPLICATION</a:t>
            </a:r>
            <a:endParaRPr lang="en-SG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664C8D-E0B0-FF6B-E67C-BF71DD7FD4FF}"/>
              </a:ext>
            </a:extLst>
          </p:cNvPr>
          <p:cNvSpPr/>
          <p:nvPr/>
        </p:nvSpPr>
        <p:spPr>
          <a:xfrm>
            <a:off x="7352518" y="2648229"/>
            <a:ext cx="503857" cy="1578949"/>
          </a:xfrm>
          <a:prstGeom prst="rect">
            <a:avLst/>
          </a:prstGeom>
          <a:noFill/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35820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FC039-1DD5-82DF-000E-2A828B71A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30B913-7314-37CF-D561-8D732BF68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079" y="2630821"/>
            <a:ext cx="2122326" cy="15963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0BB679-D4D3-E32D-922D-736EB0230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411" y="2233241"/>
            <a:ext cx="1904806" cy="223704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F7D08FA9-9908-AF77-9644-F0C35A012D43}"/>
              </a:ext>
            </a:extLst>
          </p:cNvPr>
          <p:cNvSpPr txBox="1"/>
          <p:nvPr/>
        </p:nvSpPr>
        <p:spPr>
          <a:xfrm>
            <a:off x="2167509" y="915008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b="1" i="0" dirty="0">
                <a:effectLst/>
                <a:latin typeface="Roboto" panose="02000000000000000000" pitchFamily="2" charset="0"/>
              </a:rPr>
              <a:t>VC-02-Kit AI Intelligent Offline Voice Recognition Control Module Development Board</a:t>
            </a:r>
            <a:endParaRPr lang="en-SG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2D6957-02B3-E9E3-01C2-4B009C75B528}"/>
              </a:ext>
            </a:extLst>
          </p:cNvPr>
          <p:cNvSpPr txBox="1"/>
          <p:nvPr/>
        </p:nvSpPr>
        <p:spPr>
          <a:xfrm>
            <a:off x="4019160" y="5132852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b="1" i="0" dirty="0">
                <a:effectLst/>
                <a:latin typeface="Roboto" panose="02000000000000000000" pitchFamily="2" charset="0"/>
              </a:rPr>
              <a:t>VC-02-Kit </a:t>
            </a:r>
            <a:r>
              <a:rPr lang="en-SG" b="1" dirty="0">
                <a:latin typeface="Roboto" panose="02000000000000000000" pitchFamily="2" charset="0"/>
              </a:rPr>
              <a:t>– EDGE AND HUB APPLICATION</a:t>
            </a:r>
            <a:endParaRPr lang="en-SG" b="1" i="0" dirty="0">
              <a:effectLst/>
              <a:latin typeface="Roboto" panose="02000000000000000000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078DE0E-58A3-7281-ED08-82349CCF0D75}"/>
              </a:ext>
            </a:extLst>
          </p:cNvPr>
          <p:cNvGrpSpPr/>
          <p:nvPr/>
        </p:nvGrpSpPr>
        <p:grpSpPr>
          <a:xfrm>
            <a:off x="4329405" y="2262093"/>
            <a:ext cx="4025747" cy="2237040"/>
            <a:chOff x="2117601" y="2059388"/>
            <a:chExt cx="5952200" cy="358944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7FF255A-51FF-02F6-8D2F-BB7FDC63E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17601" y="2059388"/>
              <a:ext cx="5952200" cy="358944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23C1671-9295-09B3-0154-C03E3A4000A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6200000">
              <a:off x="3881927" y="1110579"/>
              <a:ext cx="230880" cy="326215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1E4F54B-63C9-7AB9-1991-57C2335E78C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16200000">
              <a:off x="3881927" y="3321812"/>
              <a:ext cx="230880" cy="3262153"/>
            </a:xfrm>
            <a:prstGeom prst="rect">
              <a:avLst/>
            </a:prstGeom>
          </p:spPr>
        </p:pic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B368C3-F93F-95D0-E503-8C6C57BE6791}"/>
              </a:ext>
            </a:extLst>
          </p:cNvPr>
          <p:cNvCxnSpPr>
            <a:cxnSpLocks/>
          </p:cNvCxnSpPr>
          <p:nvPr/>
        </p:nvCxnSpPr>
        <p:spPr>
          <a:xfrm flipH="1">
            <a:off x="6615404" y="3621365"/>
            <a:ext cx="2111798" cy="0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21D3C0B-0413-B7A7-BC58-248B8DCBD0AC}"/>
              </a:ext>
            </a:extLst>
          </p:cNvPr>
          <p:cNvSpPr/>
          <p:nvPr/>
        </p:nvSpPr>
        <p:spPr>
          <a:xfrm>
            <a:off x="8621479" y="2573582"/>
            <a:ext cx="503857" cy="1578949"/>
          </a:xfrm>
          <a:prstGeom prst="rect">
            <a:avLst/>
          </a:prstGeom>
          <a:noFill/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14620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8B58B5-65E9-D055-BFC8-AC613FF94268}"/>
              </a:ext>
            </a:extLst>
          </p:cNvPr>
          <p:cNvSpPr txBox="1"/>
          <p:nvPr/>
        </p:nvSpPr>
        <p:spPr>
          <a:xfrm>
            <a:off x="3533969" y="2874843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b="1" i="0" dirty="0">
                <a:effectLst/>
                <a:latin typeface="Roboto" panose="02000000000000000000" pitchFamily="2" charset="0"/>
              </a:rPr>
              <a:t>VC-02-Kit </a:t>
            </a:r>
            <a:r>
              <a:rPr lang="en-SG" b="1" dirty="0">
                <a:latin typeface="Roboto" panose="02000000000000000000" pitchFamily="2" charset="0"/>
              </a:rPr>
              <a:t>– DEMO #1 – STAND-ALONE APPLICATION</a:t>
            </a:r>
            <a:endParaRPr lang="en-SG" b="1" i="0" dirty="0"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474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8747F2D-B170-5E62-AF1E-B1A494700674}"/>
              </a:ext>
            </a:extLst>
          </p:cNvPr>
          <p:cNvSpPr txBox="1"/>
          <p:nvPr/>
        </p:nvSpPr>
        <p:spPr>
          <a:xfrm>
            <a:off x="5405605" y="1121467"/>
            <a:ext cx="23816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VC-02 STAND-ALONE</a:t>
            </a:r>
          </a:p>
          <a:p>
            <a:r>
              <a:rPr lang="en-US" sz="2000" b="1" dirty="0"/>
              <a:t>WIRING DIAGRAM</a:t>
            </a:r>
            <a:endParaRPr lang="en-SG" sz="2000" b="1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D28FC79-C83A-13BC-B459-2CAAC8FBC94F}"/>
              </a:ext>
            </a:extLst>
          </p:cNvPr>
          <p:cNvGrpSpPr/>
          <p:nvPr/>
        </p:nvGrpSpPr>
        <p:grpSpPr>
          <a:xfrm>
            <a:off x="2743505" y="1535392"/>
            <a:ext cx="4375751" cy="3548770"/>
            <a:chOff x="2674583" y="1507400"/>
            <a:chExt cx="4375751" cy="354877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E1A05D1-BE51-B2D2-7141-3F6183EA9AAA}"/>
                </a:ext>
              </a:extLst>
            </p:cNvPr>
            <p:cNvGrpSpPr/>
            <p:nvPr/>
          </p:nvGrpSpPr>
          <p:grpSpPr>
            <a:xfrm>
              <a:off x="2674583" y="1507400"/>
              <a:ext cx="4375751" cy="3548770"/>
              <a:chOff x="2674583" y="1507400"/>
              <a:chExt cx="4375751" cy="3548770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E2BE9821-2303-6AA7-8F6F-EFC7C535DD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674583" y="1507400"/>
                <a:ext cx="1409700" cy="2600325"/>
              </a:xfrm>
              <a:prstGeom prst="rect">
                <a:avLst/>
              </a:prstGeom>
            </p:spPr>
          </p:pic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6DCFF0D-66B9-E0C3-AEC7-A9609C7B7A7B}"/>
                  </a:ext>
                </a:extLst>
              </p:cNvPr>
              <p:cNvSpPr txBox="1"/>
              <p:nvPr/>
            </p:nvSpPr>
            <p:spPr>
              <a:xfrm>
                <a:off x="4957092" y="3082318"/>
                <a:ext cx="759182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TX1</a:t>
                </a:r>
                <a:endParaRPr lang="en-SG" dirty="0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56063F-4F6A-0B5B-4BBB-3E4A5FA6787B}"/>
                  </a:ext>
                </a:extLst>
              </p:cNvPr>
              <p:cNvSpPr txBox="1"/>
              <p:nvPr/>
            </p:nvSpPr>
            <p:spPr>
              <a:xfrm>
                <a:off x="4957092" y="3629998"/>
                <a:ext cx="759182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IOA27</a:t>
                </a:r>
                <a:endParaRPr lang="en-SG" dirty="0"/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14EA9731-22A6-4C91-52BC-0247CEBDC35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04068" y="3833715"/>
                <a:ext cx="1153024" cy="865"/>
              </a:xfrm>
              <a:prstGeom prst="line">
                <a:avLst/>
              </a:prstGeom>
              <a:ln w="571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2D6F1808-1539-B8AF-0E83-E497833AA7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16274" y="3214931"/>
                <a:ext cx="1281685" cy="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4C3AE616-543C-50D4-436A-C4CB805D09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97959" y="3214931"/>
                <a:ext cx="0" cy="183293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F617ABA9-3BA5-8036-E1F2-A20F73EDCE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42109" y="3999330"/>
                <a:ext cx="0" cy="1048531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B63614B0-A794-3653-47F7-0667E0776E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09387" y="5047861"/>
                <a:ext cx="3740947" cy="8309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74A7502-9A9E-962D-F2CB-57BC767F5D9C}"/>
                </a:ext>
              </a:extLst>
            </p:cNvPr>
            <p:cNvSpPr txBox="1"/>
            <p:nvPr/>
          </p:nvSpPr>
          <p:spPr>
            <a:xfrm>
              <a:off x="4922002" y="2354042"/>
              <a:ext cx="759181" cy="369332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GND</a:t>
              </a:r>
              <a:endParaRPr lang="en-SG" dirty="0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CB86CAD-E43A-CDE1-998C-A1BA41092973}"/>
                </a:ext>
              </a:extLst>
            </p:cNvPr>
            <p:cNvCxnSpPr>
              <a:cxnSpLocks/>
            </p:cNvCxnSpPr>
            <p:nvPr/>
          </p:nvCxnSpPr>
          <p:spPr>
            <a:xfrm>
              <a:off x="3583951" y="4476821"/>
              <a:ext cx="2788857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7AC00FB-219C-9536-7A55-6BECB0544034}"/>
                </a:ext>
              </a:extLst>
            </p:cNvPr>
            <p:cNvCxnSpPr>
              <a:cxnSpLocks/>
            </p:cNvCxnSpPr>
            <p:nvPr/>
          </p:nvCxnSpPr>
          <p:spPr>
            <a:xfrm>
              <a:off x="3583951" y="3999330"/>
              <a:ext cx="0" cy="498025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85943EF-615D-E720-474B-2A21BCC224D0}"/>
                </a:ext>
              </a:extLst>
            </p:cNvPr>
            <p:cNvCxnSpPr>
              <a:cxnSpLocks/>
            </p:cNvCxnSpPr>
            <p:nvPr/>
          </p:nvCxnSpPr>
          <p:spPr>
            <a:xfrm>
              <a:off x="6349678" y="2556587"/>
              <a:ext cx="0" cy="195546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83879D5-E1FB-6A61-4C88-0AA2587517F2}"/>
                </a:ext>
              </a:extLst>
            </p:cNvPr>
            <p:cNvCxnSpPr>
              <a:cxnSpLocks/>
            </p:cNvCxnSpPr>
            <p:nvPr/>
          </p:nvCxnSpPr>
          <p:spPr>
            <a:xfrm>
              <a:off x="5681183" y="2557091"/>
              <a:ext cx="676273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7E315DC-D3A6-06F9-B299-5F9ACC5717FA}"/>
              </a:ext>
            </a:extLst>
          </p:cNvPr>
          <p:cNvGrpSpPr/>
          <p:nvPr/>
        </p:nvGrpSpPr>
        <p:grpSpPr>
          <a:xfrm>
            <a:off x="7312660" y="2379294"/>
            <a:ext cx="1904806" cy="2237040"/>
            <a:chOff x="7312660" y="2379294"/>
            <a:chExt cx="1904806" cy="223704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5CBB2E0-3084-E8F3-613C-773B77D4A8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2660" y="2379294"/>
              <a:ext cx="1904806" cy="2237040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336613F-85F9-A8CF-7053-6F0BB5A9B8A2}"/>
                </a:ext>
              </a:extLst>
            </p:cNvPr>
            <p:cNvSpPr/>
            <p:nvPr/>
          </p:nvSpPr>
          <p:spPr>
            <a:xfrm>
              <a:off x="7352518" y="2648229"/>
              <a:ext cx="503857" cy="1578949"/>
            </a:xfrm>
            <a:prstGeom prst="rect">
              <a:avLst/>
            </a:prstGeom>
            <a:noFill/>
            <a:ln w="508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406994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CC945-2FF9-4BDE-0539-F63CAB068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94DE9E-814E-8B43-E86D-975937FCC169}"/>
              </a:ext>
            </a:extLst>
          </p:cNvPr>
          <p:cNvSpPr txBox="1"/>
          <p:nvPr/>
        </p:nvSpPr>
        <p:spPr>
          <a:xfrm>
            <a:off x="3533968" y="2874843"/>
            <a:ext cx="62818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b="1" i="0" dirty="0">
                <a:effectLst/>
                <a:latin typeface="Roboto" panose="02000000000000000000" pitchFamily="2" charset="0"/>
              </a:rPr>
              <a:t>VC-02-Kit </a:t>
            </a:r>
            <a:r>
              <a:rPr lang="en-SG" b="1" dirty="0">
                <a:latin typeface="Roboto" panose="02000000000000000000" pitchFamily="2" charset="0"/>
              </a:rPr>
              <a:t>– DEMO #1 – HOW TO CREATE THE FIRMWARE</a:t>
            </a:r>
            <a:endParaRPr lang="en-SG" b="1" i="0" dirty="0"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578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2ED483-5B69-1A65-CE3A-780FB2D08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941" y="776842"/>
            <a:ext cx="3438525" cy="8477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BCC6DCE-8C1E-F702-B1E3-E438527E2C08}"/>
              </a:ext>
            </a:extLst>
          </p:cNvPr>
          <p:cNvSpPr txBox="1"/>
          <p:nvPr/>
        </p:nvSpPr>
        <p:spPr>
          <a:xfrm>
            <a:off x="1162975" y="407510"/>
            <a:ext cx="2702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http://voice.ai-thinker.com</a:t>
            </a:r>
            <a:endParaRPr lang="en-SG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E6D3F89-E744-29A2-2DCD-ABD46904B724}"/>
              </a:ext>
            </a:extLst>
          </p:cNvPr>
          <p:cNvGrpSpPr/>
          <p:nvPr/>
        </p:nvGrpSpPr>
        <p:grpSpPr>
          <a:xfrm>
            <a:off x="5187426" y="407510"/>
            <a:ext cx="3566049" cy="1217057"/>
            <a:chOff x="5187426" y="407510"/>
            <a:chExt cx="3566049" cy="121705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1036E6E-C179-D216-8126-C233C80DEF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67325" y="843517"/>
              <a:ext cx="3486150" cy="78105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77282B1-2394-0D83-956D-DCD59CB90196}"/>
                </a:ext>
              </a:extLst>
            </p:cNvPr>
            <p:cNvSpPr txBox="1"/>
            <p:nvPr/>
          </p:nvSpPr>
          <p:spPr>
            <a:xfrm>
              <a:off x="5187426" y="407510"/>
              <a:ext cx="23435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Register for an account</a:t>
              </a:r>
              <a:endParaRPr lang="en-SG" dirty="0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C5E7C410-37A1-B070-8166-F817D40715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3941" y="1993899"/>
            <a:ext cx="3514725" cy="2771775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BD8E537-281E-40EE-B147-2F116379C5A4}"/>
              </a:ext>
            </a:extLst>
          </p:cNvPr>
          <p:cNvGrpSpPr/>
          <p:nvPr/>
        </p:nvGrpSpPr>
        <p:grpSpPr>
          <a:xfrm>
            <a:off x="1313940" y="0"/>
            <a:ext cx="7111864" cy="6858241"/>
            <a:chOff x="1313940" y="0"/>
            <a:chExt cx="7111864" cy="6858241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E8FBB36-5D2E-243E-A3E5-683DDC2372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87426" y="0"/>
              <a:ext cx="3238378" cy="6858241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223E7B4-1948-CBF1-0440-0E2645215C92}"/>
                </a:ext>
              </a:extLst>
            </p:cNvPr>
            <p:cNvSpPr/>
            <p:nvPr/>
          </p:nvSpPr>
          <p:spPr>
            <a:xfrm>
              <a:off x="1313940" y="3429000"/>
              <a:ext cx="2045079" cy="461864"/>
            </a:xfrm>
            <a:prstGeom prst="rect">
              <a:avLst/>
            </a:pr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45064684-8122-A2EF-0DF4-890820C4E2B1}"/>
              </a:ext>
            </a:extLst>
          </p:cNvPr>
          <p:cNvSpPr/>
          <p:nvPr/>
        </p:nvSpPr>
        <p:spPr>
          <a:xfrm>
            <a:off x="5987860" y="6014483"/>
            <a:ext cx="2045079" cy="461864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5975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611C7E-224A-E16D-59E9-7581FEB0A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062" y="817593"/>
            <a:ext cx="6010275" cy="4457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C8CCE6-928A-7361-9399-02D636DBA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731" y="3158217"/>
            <a:ext cx="9305925" cy="194562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3301B36-B7EC-78D0-66FC-618892BCCD50}"/>
              </a:ext>
            </a:extLst>
          </p:cNvPr>
          <p:cNvSpPr/>
          <p:nvPr/>
        </p:nvSpPr>
        <p:spPr>
          <a:xfrm>
            <a:off x="8068587" y="3900098"/>
            <a:ext cx="2045079" cy="83052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7151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410DE2-EBEA-F655-0A06-82853EE2E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26" y="926676"/>
            <a:ext cx="10333608" cy="22402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66C46B-21BD-80B4-B45B-39C26474FE31}"/>
              </a:ext>
            </a:extLst>
          </p:cNvPr>
          <p:cNvSpPr txBox="1"/>
          <p:nvPr/>
        </p:nvSpPr>
        <p:spPr>
          <a:xfrm>
            <a:off x="4545366" y="3691031"/>
            <a:ext cx="2243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Leave them as default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762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6D3455-D174-1265-9559-1C926032E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5" y="984497"/>
            <a:ext cx="6086475" cy="2705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F9B393-E87B-5FBB-C6DA-5D87F0780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255" y="2618010"/>
            <a:ext cx="2409825" cy="8858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A782F1-0FD8-CBD3-C2E3-2E663BAFB4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767" y="256202"/>
            <a:ext cx="4509053" cy="6427799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79E5EDAB-1FD4-CDA3-B390-C820B205D6B4}"/>
              </a:ext>
            </a:extLst>
          </p:cNvPr>
          <p:cNvGrpSpPr/>
          <p:nvPr/>
        </p:nvGrpSpPr>
        <p:grpSpPr>
          <a:xfrm>
            <a:off x="599459" y="526876"/>
            <a:ext cx="5057775" cy="5886450"/>
            <a:chOff x="599459" y="526876"/>
            <a:chExt cx="5057775" cy="588645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9EB8062-C589-C391-CCD0-B82EB21B7647}"/>
                </a:ext>
              </a:extLst>
            </p:cNvPr>
            <p:cNvGrpSpPr/>
            <p:nvPr/>
          </p:nvGrpSpPr>
          <p:grpSpPr>
            <a:xfrm>
              <a:off x="599459" y="526876"/>
              <a:ext cx="5057775" cy="5886450"/>
              <a:chOff x="599459" y="526876"/>
              <a:chExt cx="5057775" cy="5886450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7E5721AE-10BA-3091-D06F-66DE518FF7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9459" y="526876"/>
                <a:ext cx="5057775" cy="5886450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7D0DA2E9-E3FF-4714-C88D-C90A8159AE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23808" y="4275017"/>
                <a:ext cx="714375" cy="285750"/>
              </a:xfrm>
              <a:prstGeom prst="rect">
                <a:avLst/>
              </a:prstGeom>
            </p:spPr>
          </p:pic>
        </p:grp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6C647BA-86C6-ACB0-5852-A4A07C10951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342858" y="4756186"/>
              <a:ext cx="695325" cy="295275"/>
            </a:xfrm>
            <a:prstGeom prst="rect">
              <a:avLst/>
            </a:prstGeom>
          </p:spPr>
        </p:pic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47B86D67-2DDC-80BC-5879-EF11C64E29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71407" y="4158099"/>
            <a:ext cx="1038225" cy="10287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112AF8A4-09D5-86C8-92B2-9B423B0A3C42}"/>
              </a:ext>
            </a:extLst>
          </p:cNvPr>
          <p:cNvSpPr/>
          <p:nvPr/>
        </p:nvSpPr>
        <p:spPr>
          <a:xfrm>
            <a:off x="819317" y="4275017"/>
            <a:ext cx="794877" cy="258001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11F7ADA-2F10-4294-984C-E09B17AE90E4}"/>
              </a:ext>
            </a:extLst>
          </p:cNvPr>
          <p:cNvSpPr/>
          <p:nvPr/>
        </p:nvSpPr>
        <p:spPr>
          <a:xfrm>
            <a:off x="843738" y="3724305"/>
            <a:ext cx="770457" cy="258001"/>
          </a:xfrm>
          <a:prstGeom prst="rect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22558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AB391465-E864-D759-E9A5-16F6B08D9A56}"/>
              </a:ext>
            </a:extLst>
          </p:cNvPr>
          <p:cNvGrpSpPr/>
          <p:nvPr/>
        </p:nvGrpSpPr>
        <p:grpSpPr>
          <a:xfrm>
            <a:off x="0" y="598048"/>
            <a:ext cx="12192000" cy="5244618"/>
            <a:chOff x="0" y="476749"/>
            <a:chExt cx="12192000" cy="524461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1609D5B-5509-D8AE-60C6-1A903E5256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136632"/>
              <a:ext cx="12192000" cy="4584735"/>
            </a:xfrm>
            <a:prstGeom prst="rect">
              <a:avLst/>
            </a:prstGeom>
          </p:spPr>
        </p:pic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0A188D4-996F-ED1B-18DA-D3DA532AD4DB}"/>
                </a:ext>
              </a:extLst>
            </p:cNvPr>
            <p:cNvGrpSpPr/>
            <p:nvPr/>
          </p:nvGrpSpPr>
          <p:grpSpPr>
            <a:xfrm>
              <a:off x="1899762" y="476749"/>
              <a:ext cx="5293859" cy="4677734"/>
              <a:chOff x="1899762" y="476749"/>
              <a:chExt cx="5293859" cy="4677734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F1DC65F5-A20A-5950-26EF-90353EA554E8}"/>
                  </a:ext>
                </a:extLst>
              </p:cNvPr>
              <p:cNvGrpSpPr/>
              <p:nvPr/>
            </p:nvGrpSpPr>
            <p:grpSpPr>
              <a:xfrm>
                <a:off x="1899762" y="476749"/>
                <a:ext cx="5293859" cy="4660200"/>
                <a:chOff x="1899762" y="476749"/>
                <a:chExt cx="5293859" cy="4660200"/>
              </a:xfrm>
            </p:grpSpPr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471C9370-CBCE-FF8B-53A8-DA0FBEF240F4}"/>
                    </a:ext>
                  </a:extLst>
                </p:cNvPr>
                <p:cNvSpPr txBox="1"/>
                <p:nvPr/>
              </p:nvSpPr>
              <p:spPr>
                <a:xfrm>
                  <a:off x="4951505" y="4416497"/>
                  <a:ext cx="759182" cy="369332"/>
                </a:xfrm>
                <a:prstGeom prst="rect">
                  <a:avLst/>
                </a:prstGeom>
                <a:solidFill>
                  <a:srgbClr val="FF0000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TX1</a:t>
                  </a:r>
                  <a:endParaRPr lang="en-SG" dirty="0"/>
                </a:p>
              </p:txBody>
            </p:sp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5F71B92-92E3-8F1F-7855-1B2DD7508F40}"/>
                    </a:ext>
                  </a:extLst>
                </p:cNvPr>
                <p:cNvSpPr txBox="1"/>
                <p:nvPr/>
              </p:nvSpPr>
              <p:spPr>
                <a:xfrm>
                  <a:off x="4942595" y="3973787"/>
                  <a:ext cx="759182" cy="369332"/>
                </a:xfrm>
                <a:prstGeom prst="rect">
                  <a:avLst/>
                </a:prstGeom>
                <a:solidFill>
                  <a:srgbClr val="FF0000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TX1</a:t>
                  </a:r>
                  <a:endParaRPr lang="en-SG" dirty="0"/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0F0793BE-DFCF-F374-922D-6AAFAC7A7678}"/>
                    </a:ext>
                  </a:extLst>
                </p:cNvPr>
                <p:cNvSpPr txBox="1"/>
                <p:nvPr/>
              </p:nvSpPr>
              <p:spPr>
                <a:xfrm>
                  <a:off x="4951995" y="2490739"/>
                  <a:ext cx="759182" cy="369332"/>
                </a:xfrm>
                <a:prstGeom prst="rect">
                  <a:avLst/>
                </a:prstGeom>
                <a:solidFill>
                  <a:srgbClr val="92D050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1"/>
                      </a:solidFill>
                    </a:rPr>
                    <a:t>IOA27</a:t>
                  </a:r>
                  <a:endParaRPr lang="en-SG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8FC9A2E-3BA0-FCAA-B76B-E348157D3BE0}"/>
                    </a:ext>
                  </a:extLst>
                </p:cNvPr>
                <p:cNvSpPr txBox="1"/>
                <p:nvPr/>
              </p:nvSpPr>
              <p:spPr>
                <a:xfrm>
                  <a:off x="4947896" y="3048885"/>
                  <a:ext cx="759182" cy="369332"/>
                </a:xfrm>
                <a:prstGeom prst="rect">
                  <a:avLst/>
                </a:prstGeom>
                <a:solidFill>
                  <a:srgbClr val="92D050"/>
                </a:solidFill>
                <a:ln>
                  <a:solidFill>
                    <a:srgbClr val="00B05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1"/>
                      </a:solidFill>
                    </a:rPr>
                    <a:t>IOA27</a:t>
                  </a:r>
                  <a:endParaRPr lang="en-SG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CB1CEEDC-A0A7-6390-3588-8D0E60671924}"/>
                    </a:ext>
                  </a:extLst>
                </p:cNvPr>
                <p:cNvSpPr txBox="1"/>
                <p:nvPr/>
              </p:nvSpPr>
              <p:spPr>
                <a:xfrm>
                  <a:off x="1899762" y="2940803"/>
                  <a:ext cx="1337960" cy="369332"/>
                </a:xfrm>
                <a:prstGeom prst="rect">
                  <a:avLst/>
                </a:prstGeom>
                <a:solidFill>
                  <a:srgbClr val="92D050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GREEN LED</a:t>
                  </a:r>
                  <a:endParaRPr lang="en-SG" dirty="0"/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7D85945-A2EB-8726-F234-08D56E7B61DE}"/>
                    </a:ext>
                  </a:extLst>
                </p:cNvPr>
                <p:cNvSpPr txBox="1"/>
                <p:nvPr/>
              </p:nvSpPr>
              <p:spPr>
                <a:xfrm>
                  <a:off x="1899762" y="4453143"/>
                  <a:ext cx="1337960" cy="369332"/>
                </a:xfrm>
                <a:prstGeom prst="rect">
                  <a:avLst/>
                </a:prstGeom>
                <a:solidFill>
                  <a:srgbClr val="FF0000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1"/>
                      </a:solidFill>
                    </a:rPr>
                    <a:t>RED LED</a:t>
                  </a:r>
                  <a:endParaRPr lang="en-SG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5E75424-773E-6DFF-82BC-00DFCAC9CE68}"/>
                    </a:ext>
                  </a:extLst>
                </p:cNvPr>
                <p:cNvSpPr txBox="1"/>
                <p:nvPr/>
              </p:nvSpPr>
              <p:spPr>
                <a:xfrm>
                  <a:off x="4555449" y="476749"/>
                  <a:ext cx="1263462" cy="646331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Pins on the VC02</a:t>
                  </a:r>
                  <a:endParaRPr lang="en-SG" dirty="0"/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FDA28A1-9AA9-1102-381A-B204B885CEA7}"/>
                    </a:ext>
                  </a:extLst>
                </p:cNvPr>
                <p:cNvSpPr txBox="1"/>
                <p:nvPr/>
              </p:nvSpPr>
              <p:spPr>
                <a:xfrm>
                  <a:off x="5930159" y="476749"/>
                  <a:ext cx="1263462" cy="646331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Pins on the Web</a:t>
                  </a:r>
                  <a:endParaRPr lang="en-SG" dirty="0"/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028551BE-8BF9-1C30-6A37-A3AFC69577B7}"/>
                    </a:ext>
                  </a:extLst>
                </p:cNvPr>
                <p:cNvSpPr/>
                <p:nvPr/>
              </p:nvSpPr>
              <p:spPr>
                <a:xfrm>
                  <a:off x="5887900" y="2308649"/>
                  <a:ext cx="606206" cy="1367612"/>
                </a:xfrm>
                <a:prstGeom prst="rect">
                  <a:avLst/>
                </a:prstGeom>
                <a:noFill/>
                <a:ln w="3492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9CBBFD5F-B291-85E2-1DDA-2684BE74F46F}"/>
                    </a:ext>
                  </a:extLst>
                </p:cNvPr>
                <p:cNvCxnSpPr>
                  <a:cxnSpLocks/>
                  <a:stCxn id="11" idx="0"/>
                </p:cNvCxnSpPr>
                <p:nvPr/>
              </p:nvCxnSpPr>
              <p:spPr>
                <a:xfrm flipV="1">
                  <a:off x="6191003" y="1080161"/>
                  <a:ext cx="247402" cy="1228488"/>
                </a:xfrm>
                <a:prstGeom prst="line">
                  <a:avLst/>
                </a:prstGeom>
                <a:ln w="3492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F8192FA8-7169-7CC4-346A-009AFC185E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190959" y="1038397"/>
                  <a:ext cx="224289" cy="1256700"/>
                </a:xfrm>
                <a:prstGeom prst="line">
                  <a:avLst/>
                </a:prstGeom>
                <a:ln w="3492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67D49E79-A8B3-851C-352B-7956F76C10B1}"/>
                    </a:ext>
                  </a:extLst>
                </p:cNvPr>
                <p:cNvSpPr/>
                <p:nvPr/>
              </p:nvSpPr>
              <p:spPr>
                <a:xfrm>
                  <a:off x="4921494" y="3769337"/>
                  <a:ext cx="814883" cy="1367612"/>
                </a:xfrm>
                <a:prstGeom prst="rect">
                  <a:avLst/>
                </a:prstGeom>
                <a:noFill/>
                <a:ln w="3492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</p:grp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719F327D-6984-490E-11A2-60828B832BCF}"/>
                  </a:ext>
                </a:extLst>
              </p:cNvPr>
              <p:cNvSpPr/>
              <p:nvPr/>
            </p:nvSpPr>
            <p:spPr>
              <a:xfrm>
                <a:off x="4942595" y="2308649"/>
                <a:ext cx="814883" cy="1367612"/>
              </a:xfrm>
              <a:prstGeom prst="rect">
                <a:avLst/>
              </a:prstGeom>
              <a:noFill/>
              <a:ln w="349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EE77393E-BCEE-4666-9A95-B78D4F7209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16794" y="3156179"/>
                <a:ext cx="1659783" cy="0"/>
              </a:xfrm>
              <a:prstGeom prst="line">
                <a:avLst/>
              </a:prstGeom>
              <a:ln w="3492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C6ACBCB5-A905-116A-7226-F2E89E69F8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3074" y="4637809"/>
                <a:ext cx="1753018" cy="0"/>
              </a:xfrm>
              <a:prstGeom prst="line">
                <a:avLst/>
              </a:prstGeom>
              <a:ln w="349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6EBC08-010E-E16A-71A5-0F01436A01C5}"/>
                  </a:ext>
                </a:extLst>
              </p:cNvPr>
              <p:cNvSpPr/>
              <p:nvPr/>
            </p:nvSpPr>
            <p:spPr>
              <a:xfrm>
                <a:off x="5887900" y="3786871"/>
                <a:ext cx="606206" cy="1367612"/>
              </a:xfrm>
              <a:prstGeom prst="rect">
                <a:avLst/>
              </a:prstGeom>
              <a:noFill/>
              <a:ln w="349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EF49A35-5B3E-DE48-3B57-FC56E3925047}"/>
              </a:ext>
            </a:extLst>
          </p:cNvPr>
          <p:cNvSpPr txBox="1"/>
          <p:nvPr/>
        </p:nvSpPr>
        <p:spPr>
          <a:xfrm>
            <a:off x="335902" y="736547"/>
            <a:ext cx="2967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OUR DEMO : Physical vs Web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3512282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D013E1-223E-2B26-3F9A-CF1097BED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682" y="560203"/>
            <a:ext cx="10608816" cy="39265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F900C5-713F-9B6C-C0CE-D7FC6451F6F2}"/>
              </a:ext>
            </a:extLst>
          </p:cNvPr>
          <p:cNvSpPr txBox="1"/>
          <p:nvPr/>
        </p:nvSpPr>
        <p:spPr>
          <a:xfrm>
            <a:off x="5175680" y="4676453"/>
            <a:ext cx="2243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Leave them as default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6438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2C0F93-6DC2-F01D-615B-2CC97D80E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77" y="199690"/>
            <a:ext cx="12192000" cy="39551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C19A75-80D1-77B7-3250-F4F562381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314" y="3509315"/>
            <a:ext cx="5874150" cy="28900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36C60A-EBC1-369A-A8C2-77A69EB15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1976" y="3160897"/>
            <a:ext cx="6905625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82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399DD0-9033-156C-A583-05C837BBD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416" y="647191"/>
            <a:ext cx="8896350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907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51CE4C-E2ED-8F8D-C45A-8AC271BC0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992" y="0"/>
            <a:ext cx="5036788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E9E0A7-966C-81EC-FF69-D87FD5B2C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013" y="5548914"/>
            <a:ext cx="2428875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65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5FF96FE-213B-1939-465D-D278D1A5F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189" y="529284"/>
            <a:ext cx="5686425" cy="21240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0C04F24-D6D2-72ED-FCD6-98EF10AE27A5}"/>
              </a:ext>
            </a:extLst>
          </p:cNvPr>
          <p:cNvSpPr txBox="1"/>
          <p:nvPr/>
        </p:nvSpPr>
        <p:spPr>
          <a:xfrm>
            <a:off x="1500326" y="1313895"/>
            <a:ext cx="1386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Light Control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69161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B30016-F279-0F19-040B-A6706E7B0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94" y="738105"/>
            <a:ext cx="10821880" cy="28542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4B1F98-3F77-733E-F699-552BAA51143F}"/>
              </a:ext>
            </a:extLst>
          </p:cNvPr>
          <p:cNvSpPr txBox="1"/>
          <p:nvPr/>
        </p:nvSpPr>
        <p:spPr>
          <a:xfrm>
            <a:off x="4651899" y="4270160"/>
            <a:ext cx="26427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you see this screen,</a:t>
            </a:r>
          </a:p>
          <a:p>
            <a:r>
              <a:rPr lang="en-US" dirty="0"/>
              <a:t>Scroll the mouse upwards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567423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05DF69-A772-8A9A-F362-731CE9DB1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412" y="963273"/>
            <a:ext cx="7515225" cy="26765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F9C574-1223-1428-CD87-3E8E40EBC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213" y="2207742"/>
            <a:ext cx="2381250" cy="14382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1CBED6E-0D85-006F-6274-B7DBB4698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5206" y="2926880"/>
            <a:ext cx="3238500" cy="600075"/>
          </a:xfrm>
          <a:prstGeom prst="rect">
            <a:avLst/>
          </a:prstGeom>
          <a:solidFill>
            <a:srgbClr val="FFC000"/>
          </a:solidFill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0BA51D6-B688-C21E-CEEE-D347DDAC1E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5206" y="3000375"/>
            <a:ext cx="3558593" cy="42862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EF8D280-7FA6-4C73-1815-819B3AECEEEC}"/>
              </a:ext>
            </a:extLst>
          </p:cNvPr>
          <p:cNvSpPr txBox="1"/>
          <p:nvPr/>
        </p:nvSpPr>
        <p:spPr>
          <a:xfrm>
            <a:off x="6932838" y="3597745"/>
            <a:ext cx="1306286" cy="92333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May take an hour + sometimes</a:t>
            </a:r>
            <a:endParaRPr lang="en-SG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EDAD568-25CD-E7DC-7BEC-2438BEB673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9701" y="2831630"/>
            <a:ext cx="2200275" cy="695325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87651AB1-D8B5-D71A-0C36-E63C0C11F1AB}"/>
              </a:ext>
            </a:extLst>
          </p:cNvPr>
          <p:cNvGrpSpPr/>
          <p:nvPr/>
        </p:nvGrpSpPr>
        <p:grpSpPr>
          <a:xfrm>
            <a:off x="9993854" y="3179175"/>
            <a:ext cx="615874" cy="782097"/>
            <a:chOff x="5430175" y="4765182"/>
            <a:chExt cx="615874" cy="782097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48B045A-363E-BE60-66C6-ABE25E43E3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93337" y="4765182"/>
              <a:ext cx="108473" cy="412765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290DFA-6B5C-E526-23EE-3FC2C1E0F835}"/>
                </a:ext>
              </a:extLst>
            </p:cNvPr>
            <p:cNvSpPr txBox="1"/>
            <p:nvPr/>
          </p:nvSpPr>
          <p:spPr>
            <a:xfrm>
              <a:off x="5430175" y="5177947"/>
              <a:ext cx="615874" cy="3693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Click</a:t>
              </a:r>
              <a:endParaRPr lang="en-SG" dirty="0"/>
            </a:p>
          </p:txBody>
        </p:sp>
      </p:grpSp>
    </p:spTree>
    <p:extLst>
      <p:ext uri="{BB962C8B-B14F-4D97-AF65-F5344CB8AC3E}">
        <p14:creationId xmlns:p14="http://schemas.microsoft.com/office/powerpoint/2010/main" val="3674531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A86EE75-2CD2-1B8F-3EA7-56224B122C39}"/>
              </a:ext>
            </a:extLst>
          </p:cNvPr>
          <p:cNvGrpSpPr/>
          <p:nvPr/>
        </p:nvGrpSpPr>
        <p:grpSpPr>
          <a:xfrm>
            <a:off x="1816778" y="892252"/>
            <a:ext cx="7786687" cy="933635"/>
            <a:chOff x="1568203" y="927762"/>
            <a:chExt cx="7786687" cy="93363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2F28F3E-C4B4-5C94-BB2E-DDC13C2EC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8203" y="994622"/>
              <a:ext cx="4705350" cy="866775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56C328B-977A-7F6E-0A75-8412F55EC8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49815" y="927762"/>
              <a:ext cx="2505075" cy="847725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D61E4E1D-9478-8D3D-20E3-B69A3D7623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6778" y="2008064"/>
            <a:ext cx="5076825" cy="119062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68EA9AA-C480-4BA6-E62F-02E35D6E5798}"/>
              </a:ext>
            </a:extLst>
          </p:cNvPr>
          <p:cNvSpPr/>
          <p:nvPr/>
        </p:nvSpPr>
        <p:spPr>
          <a:xfrm>
            <a:off x="7603996" y="845598"/>
            <a:ext cx="1138788" cy="470516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FB7C869-B5D3-4712-5D45-F7E6782FF8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5475" y="3519353"/>
            <a:ext cx="4200525" cy="81915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DEE5207A-8CAA-774D-978D-A953DA561AFE}"/>
              </a:ext>
            </a:extLst>
          </p:cNvPr>
          <p:cNvGrpSpPr/>
          <p:nvPr/>
        </p:nvGrpSpPr>
        <p:grpSpPr>
          <a:xfrm>
            <a:off x="6361788" y="2788042"/>
            <a:ext cx="2668567" cy="369332"/>
            <a:chOff x="6361788" y="2788042"/>
            <a:chExt cx="2668567" cy="36933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C22DE57-1BC2-D8D8-701B-E39700BEA4F1}"/>
                </a:ext>
              </a:extLst>
            </p:cNvPr>
            <p:cNvSpPr txBox="1"/>
            <p:nvPr/>
          </p:nvSpPr>
          <p:spPr>
            <a:xfrm>
              <a:off x="7316424" y="2788042"/>
              <a:ext cx="1713931" cy="3693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Double click this</a:t>
              </a:r>
              <a:endParaRPr lang="en-SG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EDA5674-D9B3-DA37-80A9-2D25609520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1788" y="2972708"/>
              <a:ext cx="1081868" cy="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7AB6D0BD-1319-1B04-E843-4EF18D8C58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1261" y="4571612"/>
            <a:ext cx="3867150" cy="140970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2B0476B0-0F95-DB45-8963-7E783C738134}"/>
              </a:ext>
            </a:extLst>
          </p:cNvPr>
          <p:cNvGrpSpPr/>
          <p:nvPr/>
        </p:nvGrpSpPr>
        <p:grpSpPr>
          <a:xfrm>
            <a:off x="6361788" y="4020773"/>
            <a:ext cx="2668567" cy="369332"/>
            <a:chOff x="6361788" y="2788042"/>
            <a:chExt cx="2668567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300FE04-59D0-7AA0-1E04-9A54AED0D151}"/>
                </a:ext>
              </a:extLst>
            </p:cNvPr>
            <p:cNvSpPr txBox="1"/>
            <p:nvPr/>
          </p:nvSpPr>
          <p:spPr>
            <a:xfrm>
              <a:off x="7316424" y="2788042"/>
              <a:ext cx="1713931" cy="3693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Double click this</a:t>
              </a:r>
              <a:endParaRPr lang="en-SG" dirty="0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00E1162-857A-3493-B303-AB6B1B1DC7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1788" y="2972708"/>
              <a:ext cx="1081868" cy="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1A8E71A-BF66-EE8B-5852-13E96C95203E}"/>
              </a:ext>
            </a:extLst>
          </p:cNvPr>
          <p:cNvGrpSpPr/>
          <p:nvPr/>
        </p:nvGrpSpPr>
        <p:grpSpPr>
          <a:xfrm>
            <a:off x="6403591" y="5289250"/>
            <a:ext cx="2985641" cy="369332"/>
            <a:chOff x="6361788" y="2788042"/>
            <a:chExt cx="2985641" cy="36933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BBB5BAA-D4FC-7CE0-F61C-08CB099BC489}"/>
                </a:ext>
              </a:extLst>
            </p:cNvPr>
            <p:cNvSpPr txBox="1"/>
            <p:nvPr/>
          </p:nvSpPr>
          <p:spPr>
            <a:xfrm>
              <a:off x="7316424" y="2788042"/>
              <a:ext cx="2031005" cy="3693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Select </a:t>
              </a:r>
              <a:r>
                <a:rPr lang="en-US" dirty="0" err="1"/>
                <a:t>image_demo</a:t>
              </a:r>
              <a:endParaRPr lang="en-SG" dirty="0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B9D293E-CACD-727E-4519-FD5F8CA843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1788" y="2972708"/>
              <a:ext cx="1081868" cy="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47491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B80C90-97C3-3F8A-4B9A-E5A530567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525" y="895933"/>
            <a:ext cx="4000500" cy="135255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D345BEA-8C5C-8BE4-5F6C-54C8FD293221}"/>
              </a:ext>
            </a:extLst>
          </p:cNvPr>
          <p:cNvGrpSpPr/>
          <p:nvPr/>
        </p:nvGrpSpPr>
        <p:grpSpPr>
          <a:xfrm>
            <a:off x="5843755" y="1572208"/>
            <a:ext cx="4535040" cy="369332"/>
            <a:chOff x="6361788" y="2788042"/>
            <a:chExt cx="4535040" cy="36933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B2D1DC3-9593-5806-AB69-EE64E925E1CA}"/>
                </a:ext>
              </a:extLst>
            </p:cNvPr>
            <p:cNvSpPr txBox="1"/>
            <p:nvPr/>
          </p:nvSpPr>
          <p:spPr>
            <a:xfrm>
              <a:off x="7316424" y="2788042"/>
              <a:ext cx="3580404" cy="3693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Select Hummingbird-M-Update-Tool</a:t>
              </a:r>
              <a:endParaRPr lang="en-SG" dirty="0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5E2FAA17-7460-F18B-61D5-0E26509BDE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1788" y="2972708"/>
              <a:ext cx="1081868" cy="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56B8F5A-A188-CC92-2B5E-41CF7DFB5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100" y="2495356"/>
            <a:ext cx="3971925" cy="28003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07BE137A-6CF9-1582-F908-7CC3B3F17A83}"/>
              </a:ext>
            </a:extLst>
          </p:cNvPr>
          <p:cNvGrpSpPr/>
          <p:nvPr/>
        </p:nvGrpSpPr>
        <p:grpSpPr>
          <a:xfrm>
            <a:off x="5843755" y="2974910"/>
            <a:ext cx="3924295" cy="369332"/>
            <a:chOff x="6361788" y="2788042"/>
            <a:chExt cx="3924295" cy="36933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08FE1B9-8BAD-1FB1-961C-7F08AA6C4521}"/>
                </a:ext>
              </a:extLst>
            </p:cNvPr>
            <p:cNvSpPr txBox="1"/>
            <p:nvPr/>
          </p:nvSpPr>
          <p:spPr>
            <a:xfrm>
              <a:off x="7316424" y="2788042"/>
              <a:ext cx="2969659" cy="3693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Select UniOneUpdateTool.exe</a:t>
              </a:r>
              <a:endParaRPr lang="en-SG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AEE7076-F82C-F047-E3E0-60DCD66C8E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1788" y="2972708"/>
              <a:ext cx="1081868" cy="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12408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9EB12C-9A7E-10B6-6336-C824ADC3D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376" y="643812"/>
            <a:ext cx="7981950" cy="41148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1AC0318-3616-0A4B-351F-716478EDCD0F}"/>
              </a:ext>
            </a:extLst>
          </p:cNvPr>
          <p:cNvGrpSpPr/>
          <p:nvPr/>
        </p:nvGrpSpPr>
        <p:grpSpPr>
          <a:xfrm>
            <a:off x="6683510" y="4309188"/>
            <a:ext cx="4358966" cy="369332"/>
            <a:chOff x="6361788" y="2788042"/>
            <a:chExt cx="4358966" cy="36933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0CAF09B-BADA-929B-2868-6B6AF0B5DC84}"/>
                </a:ext>
              </a:extLst>
            </p:cNvPr>
            <p:cNvSpPr txBox="1"/>
            <p:nvPr/>
          </p:nvSpPr>
          <p:spPr>
            <a:xfrm>
              <a:off x="7316424" y="2788042"/>
              <a:ext cx="3404330" cy="3693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Click this. It means Flash Firmware</a:t>
              </a:r>
              <a:endParaRPr lang="en-SG" dirty="0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A45D7BA-23CF-2E48-F5E5-7AD4120384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1788" y="2972708"/>
              <a:ext cx="1081868" cy="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8D45988E-FEF6-ED5B-B556-C96271A42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344" y="1490370"/>
            <a:ext cx="5476875" cy="7048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8DA2F4-019F-85BB-F3B1-0AFEDDC8508C}"/>
              </a:ext>
            </a:extLst>
          </p:cNvPr>
          <p:cNvSpPr txBox="1"/>
          <p:nvPr/>
        </p:nvSpPr>
        <p:spPr>
          <a:xfrm>
            <a:off x="1013344" y="2179480"/>
            <a:ext cx="6773777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Once the COM3 row is highlighted.  Press the RST Button on the VC-02</a:t>
            </a:r>
            <a:endParaRPr lang="en-S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3FCB0F4-3D8C-37A2-FF5C-6ABD05D307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343" y="1490370"/>
            <a:ext cx="5476875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571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73A6CA-408C-7520-996D-48296785B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037" y="667624"/>
            <a:ext cx="7991475" cy="40671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F6E439-D2A5-E6B4-E6CE-3FF801DDE9E8}"/>
              </a:ext>
            </a:extLst>
          </p:cNvPr>
          <p:cNvSpPr txBox="1"/>
          <p:nvPr/>
        </p:nvSpPr>
        <p:spPr>
          <a:xfrm>
            <a:off x="2902803" y="5010539"/>
            <a:ext cx="56399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means the firmware flashing is completed.</a:t>
            </a:r>
          </a:p>
          <a:p>
            <a:r>
              <a:rPr lang="en-US" dirty="0"/>
              <a:t>You can now interact with the VC-02 using the commands </a:t>
            </a:r>
          </a:p>
          <a:p>
            <a:r>
              <a:rPr lang="en-US" dirty="0"/>
              <a:t>you have created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083181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BE336-F696-AAD7-CFDD-89E58D56A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F85806-2FDB-DEA4-CDF2-3BE13885A85B}"/>
              </a:ext>
            </a:extLst>
          </p:cNvPr>
          <p:cNvSpPr txBox="1"/>
          <p:nvPr/>
        </p:nvSpPr>
        <p:spPr>
          <a:xfrm>
            <a:off x="3533968" y="2874843"/>
            <a:ext cx="65710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b="1" i="0" dirty="0">
                <a:effectLst/>
                <a:latin typeface="Roboto" panose="02000000000000000000" pitchFamily="2" charset="0"/>
              </a:rPr>
              <a:t>VC-02-Kit </a:t>
            </a:r>
            <a:r>
              <a:rPr lang="en-SG" b="1" dirty="0">
                <a:latin typeface="Roboto" panose="02000000000000000000" pitchFamily="2" charset="0"/>
              </a:rPr>
              <a:t>– DEMO #2 – HOW TO CREATE THE FIRMWARE FOR SERIAL COMMUNICATIONS WITH MICROCONTROLLERS</a:t>
            </a:r>
            <a:endParaRPr lang="en-SG" b="1" i="0" dirty="0"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3860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DAB42-F976-7F6E-9211-FC5FE97B7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44D012-32C9-79E6-3D6E-AA4FE3DB8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079" y="2630821"/>
            <a:ext cx="2122326" cy="15963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D5FE37-A1F7-A0F8-42B4-B4791434E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411" y="2233241"/>
            <a:ext cx="1904806" cy="223704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DC5282E0-96BC-262E-53C0-2B5B42AC93D1}"/>
              </a:ext>
            </a:extLst>
          </p:cNvPr>
          <p:cNvSpPr txBox="1"/>
          <p:nvPr/>
        </p:nvSpPr>
        <p:spPr>
          <a:xfrm>
            <a:off x="2167509" y="915008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b="1" i="0" dirty="0">
                <a:effectLst/>
                <a:latin typeface="Roboto" panose="02000000000000000000" pitchFamily="2" charset="0"/>
              </a:rPr>
              <a:t>VC-02-Kit AI Intelligent Offline Voice Recognition Control Module Development Board</a:t>
            </a:r>
            <a:endParaRPr lang="en-SG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D04229-B563-9C46-488F-B83AF7241A89}"/>
              </a:ext>
            </a:extLst>
          </p:cNvPr>
          <p:cNvSpPr txBox="1"/>
          <p:nvPr/>
        </p:nvSpPr>
        <p:spPr>
          <a:xfrm>
            <a:off x="4019160" y="5132852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b="1" i="0" dirty="0">
                <a:effectLst/>
                <a:latin typeface="Roboto" panose="02000000000000000000" pitchFamily="2" charset="0"/>
              </a:rPr>
              <a:t>VC-02-Kit </a:t>
            </a:r>
            <a:r>
              <a:rPr lang="en-SG" b="1" dirty="0">
                <a:latin typeface="Roboto" panose="02000000000000000000" pitchFamily="2" charset="0"/>
              </a:rPr>
              <a:t>– EDGE AND HUB APPLICATION</a:t>
            </a:r>
            <a:endParaRPr lang="en-SG" b="1" i="0" dirty="0">
              <a:effectLst/>
              <a:latin typeface="Roboto" panose="02000000000000000000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9C942AE-6F9A-436F-3F36-5B1C61EAF7BB}"/>
              </a:ext>
            </a:extLst>
          </p:cNvPr>
          <p:cNvGrpSpPr/>
          <p:nvPr/>
        </p:nvGrpSpPr>
        <p:grpSpPr>
          <a:xfrm>
            <a:off x="4329405" y="2262093"/>
            <a:ext cx="4025747" cy="2237040"/>
            <a:chOff x="2117601" y="2059388"/>
            <a:chExt cx="5952200" cy="358944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B6805DB-403F-6D8C-E697-0FF597C925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17601" y="2059388"/>
              <a:ext cx="5952200" cy="358944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CD6AFDD-1F10-E348-8939-FDDF49EF91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6200000">
              <a:off x="3881927" y="1110579"/>
              <a:ext cx="230880" cy="326215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3ABD1BA-F019-5BDF-D0AF-E7F5F2B793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16200000">
              <a:off x="3881927" y="3321812"/>
              <a:ext cx="230880" cy="3262153"/>
            </a:xfrm>
            <a:prstGeom prst="rect">
              <a:avLst/>
            </a:prstGeom>
          </p:spPr>
        </p:pic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CA240CD-5208-F0BC-5699-E86A48A8BEA8}"/>
              </a:ext>
            </a:extLst>
          </p:cNvPr>
          <p:cNvCxnSpPr>
            <a:cxnSpLocks/>
          </p:cNvCxnSpPr>
          <p:nvPr/>
        </p:nvCxnSpPr>
        <p:spPr>
          <a:xfrm flipH="1">
            <a:off x="6615404" y="3621365"/>
            <a:ext cx="2111798" cy="0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7AFFC7A-E3D9-DC7F-51D3-2AE2617EC068}"/>
              </a:ext>
            </a:extLst>
          </p:cNvPr>
          <p:cNvSpPr/>
          <p:nvPr/>
        </p:nvSpPr>
        <p:spPr>
          <a:xfrm>
            <a:off x="8621479" y="2573582"/>
            <a:ext cx="503857" cy="1578949"/>
          </a:xfrm>
          <a:prstGeom prst="rect">
            <a:avLst/>
          </a:prstGeom>
          <a:noFill/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32737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25FEC7E-BAA5-201B-2EE3-7F2171A4F511}"/>
              </a:ext>
            </a:extLst>
          </p:cNvPr>
          <p:cNvGrpSpPr/>
          <p:nvPr/>
        </p:nvGrpSpPr>
        <p:grpSpPr>
          <a:xfrm>
            <a:off x="4887434" y="1704281"/>
            <a:ext cx="5952200" cy="3589441"/>
            <a:chOff x="2117601" y="2059388"/>
            <a:chExt cx="5952200" cy="358944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04E6DD6-263B-7196-DC07-558D2FBF45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17601" y="2059388"/>
              <a:ext cx="5952200" cy="3589441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BBC2F3C-B1DD-3CA4-8C73-BCF38A0DE9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3881927" y="1110579"/>
              <a:ext cx="230880" cy="3262154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EF07F97-B34B-3AF5-27AA-9D5E7967DB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6200000">
              <a:off x="3881927" y="3321812"/>
              <a:ext cx="230880" cy="3262153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0C7ACEC0-9B52-FE62-585F-902A122EC43B}"/>
              </a:ext>
            </a:extLst>
          </p:cNvPr>
          <p:cNvSpPr/>
          <p:nvPr/>
        </p:nvSpPr>
        <p:spPr>
          <a:xfrm>
            <a:off x="1571801" y="1292515"/>
            <a:ext cx="1246044" cy="14320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BF3D32-3DFA-DC84-4C2B-4022942D4F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6616" y="1800613"/>
            <a:ext cx="438150" cy="923925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D8110B5-C580-1D1A-CABE-8C3D360DB2C2}"/>
              </a:ext>
            </a:extLst>
          </p:cNvPr>
          <p:cNvCxnSpPr>
            <a:cxnSpLocks/>
          </p:cNvCxnSpPr>
          <p:nvPr/>
        </p:nvCxnSpPr>
        <p:spPr>
          <a:xfrm>
            <a:off x="2694766" y="2584580"/>
            <a:ext cx="2530377" cy="0"/>
          </a:xfrm>
          <a:prstGeom prst="line">
            <a:avLst/>
          </a:prstGeom>
          <a:ln w="539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88D8601-B9ED-9297-66F7-3109C1F45612}"/>
              </a:ext>
            </a:extLst>
          </p:cNvPr>
          <p:cNvCxnSpPr>
            <a:cxnSpLocks/>
          </p:cNvCxnSpPr>
          <p:nvPr/>
        </p:nvCxnSpPr>
        <p:spPr>
          <a:xfrm>
            <a:off x="2694766" y="2380328"/>
            <a:ext cx="1718614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D002642-1825-4065-8857-1ACAAE16F907}"/>
              </a:ext>
            </a:extLst>
          </p:cNvPr>
          <p:cNvCxnSpPr>
            <a:cxnSpLocks/>
          </p:cNvCxnSpPr>
          <p:nvPr/>
        </p:nvCxnSpPr>
        <p:spPr>
          <a:xfrm>
            <a:off x="4404049" y="2361666"/>
            <a:ext cx="9331" cy="353541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DDFE754-3634-1F69-A34B-563EC59AF976}"/>
              </a:ext>
            </a:extLst>
          </p:cNvPr>
          <p:cNvCxnSpPr>
            <a:cxnSpLocks/>
          </p:cNvCxnSpPr>
          <p:nvPr/>
        </p:nvCxnSpPr>
        <p:spPr>
          <a:xfrm>
            <a:off x="4388498" y="2738000"/>
            <a:ext cx="1181878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86CE3EF-04EF-E91D-DC26-38931549012B}"/>
              </a:ext>
            </a:extLst>
          </p:cNvPr>
          <p:cNvCxnSpPr>
            <a:cxnSpLocks/>
          </p:cNvCxnSpPr>
          <p:nvPr/>
        </p:nvCxnSpPr>
        <p:spPr>
          <a:xfrm>
            <a:off x="681135" y="2167812"/>
            <a:ext cx="1575481" cy="0"/>
          </a:xfrm>
          <a:prstGeom prst="line">
            <a:avLst/>
          </a:prstGeom>
          <a:ln w="539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F9330A2-356A-3E78-2B7A-58117CF97BB6}"/>
              </a:ext>
            </a:extLst>
          </p:cNvPr>
          <p:cNvCxnSpPr>
            <a:cxnSpLocks/>
          </p:cNvCxnSpPr>
          <p:nvPr/>
        </p:nvCxnSpPr>
        <p:spPr>
          <a:xfrm>
            <a:off x="662473" y="5669902"/>
            <a:ext cx="5576596" cy="0"/>
          </a:xfrm>
          <a:prstGeom prst="line">
            <a:avLst/>
          </a:prstGeom>
          <a:ln w="539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D5DF2B3-0C5C-C979-F2CF-BE9DDA5E9BF7}"/>
              </a:ext>
            </a:extLst>
          </p:cNvPr>
          <p:cNvCxnSpPr>
            <a:cxnSpLocks/>
          </p:cNvCxnSpPr>
          <p:nvPr/>
        </p:nvCxnSpPr>
        <p:spPr>
          <a:xfrm flipV="1">
            <a:off x="6239069" y="4874603"/>
            <a:ext cx="0" cy="795299"/>
          </a:xfrm>
          <a:prstGeom prst="line">
            <a:avLst/>
          </a:prstGeom>
          <a:ln w="539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8F24AAE-F021-65D9-4238-A5AA0BE6B7E1}"/>
              </a:ext>
            </a:extLst>
          </p:cNvPr>
          <p:cNvCxnSpPr>
            <a:cxnSpLocks/>
          </p:cNvCxnSpPr>
          <p:nvPr/>
        </p:nvCxnSpPr>
        <p:spPr>
          <a:xfrm flipV="1">
            <a:off x="681135" y="2156393"/>
            <a:ext cx="0" cy="3513509"/>
          </a:xfrm>
          <a:prstGeom prst="line">
            <a:avLst/>
          </a:prstGeom>
          <a:ln w="539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6AE3D37-180F-F387-430D-4FF9B795A289}"/>
              </a:ext>
            </a:extLst>
          </p:cNvPr>
          <p:cNvCxnSpPr>
            <a:cxnSpLocks/>
          </p:cNvCxnSpPr>
          <p:nvPr/>
        </p:nvCxnSpPr>
        <p:spPr>
          <a:xfrm>
            <a:off x="784060" y="1968093"/>
            <a:ext cx="1472556" cy="0"/>
          </a:xfrm>
          <a:prstGeom prst="line">
            <a:avLst/>
          </a:prstGeom>
          <a:ln w="539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5B38EF1-0C4A-8282-89E3-8CBCC8C727BA}"/>
              </a:ext>
            </a:extLst>
          </p:cNvPr>
          <p:cNvCxnSpPr>
            <a:cxnSpLocks/>
          </p:cNvCxnSpPr>
          <p:nvPr/>
        </p:nvCxnSpPr>
        <p:spPr>
          <a:xfrm flipV="1">
            <a:off x="814873" y="5795179"/>
            <a:ext cx="5281127" cy="27123"/>
          </a:xfrm>
          <a:prstGeom prst="line">
            <a:avLst/>
          </a:prstGeom>
          <a:ln w="539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7CBFAA8-685E-9198-51B7-739058AB6B26}"/>
              </a:ext>
            </a:extLst>
          </p:cNvPr>
          <p:cNvCxnSpPr>
            <a:cxnSpLocks/>
          </p:cNvCxnSpPr>
          <p:nvPr/>
        </p:nvCxnSpPr>
        <p:spPr>
          <a:xfrm flipV="1">
            <a:off x="6062056" y="4874603"/>
            <a:ext cx="0" cy="947699"/>
          </a:xfrm>
          <a:prstGeom prst="line">
            <a:avLst/>
          </a:prstGeom>
          <a:ln w="539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613916C-F0D2-38BD-A0C6-4EB21192E54F}"/>
              </a:ext>
            </a:extLst>
          </p:cNvPr>
          <p:cNvCxnSpPr>
            <a:cxnSpLocks/>
          </p:cNvCxnSpPr>
          <p:nvPr/>
        </p:nvCxnSpPr>
        <p:spPr>
          <a:xfrm flipV="1">
            <a:off x="814873" y="1968093"/>
            <a:ext cx="0" cy="3854209"/>
          </a:xfrm>
          <a:prstGeom prst="line">
            <a:avLst/>
          </a:prstGeom>
          <a:ln w="539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0B0AEDB1-6365-3E1B-3DA6-CA208966B8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5316" y="3895197"/>
            <a:ext cx="1352550" cy="7239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EE3C87F8-174B-9DAE-D638-DA11BF6E74C1}"/>
              </a:ext>
            </a:extLst>
          </p:cNvPr>
          <p:cNvSpPr txBox="1"/>
          <p:nvPr/>
        </p:nvSpPr>
        <p:spPr>
          <a:xfrm>
            <a:off x="1686812" y="3454475"/>
            <a:ext cx="2530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SERIAL CONNECTION</a:t>
            </a:r>
          </a:p>
          <a:p>
            <a:r>
              <a:rPr lang="en-US" b="1" dirty="0"/>
              <a:t>VC-02 TO PICO W</a:t>
            </a:r>
            <a:endParaRPr lang="en-SG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BBE1AC-F2A7-C1D0-3373-CF7D0BE01706}"/>
              </a:ext>
            </a:extLst>
          </p:cNvPr>
          <p:cNvSpPr txBox="1"/>
          <p:nvPr/>
        </p:nvSpPr>
        <p:spPr>
          <a:xfrm>
            <a:off x="1071258" y="192927"/>
            <a:ext cx="3349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VC-02 STAND-ALONE AS EDGE</a:t>
            </a:r>
            <a:endParaRPr lang="en-SG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483D00-3466-A1A7-9157-9DE3DCC97D27}"/>
              </a:ext>
            </a:extLst>
          </p:cNvPr>
          <p:cNvSpPr txBox="1"/>
          <p:nvPr/>
        </p:nvSpPr>
        <p:spPr>
          <a:xfrm>
            <a:off x="1071258" y="474283"/>
            <a:ext cx="28309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PICO W AS BRAIN &amp; HUB</a:t>
            </a:r>
            <a:endParaRPr lang="en-SG" sz="2000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0739143-7391-6B98-B33F-E62738CE47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1619" y="5353484"/>
            <a:ext cx="5289607" cy="74105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C193FAD-9E2F-DD6C-4429-5EBD9BF7102D}"/>
              </a:ext>
            </a:extLst>
          </p:cNvPr>
          <p:cNvSpPr txBox="1"/>
          <p:nvPr/>
        </p:nvSpPr>
        <p:spPr>
          <a:xfrm>
            <a:off x="1765980" y="1340903"/>
            <a:ext cx="928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VC-02</a:t>
            </a:r>
            <a:endParaRPr lang="en-SG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909F221-782F-0117-E143-48353849DBCC}"/>
              </a:ext>
            </a:extLst>
          </p:cNvPr>
          <p:cNvSpPr txBox="1"/>
          <p:nvPr/>
        </p:nvSpPr>
        <p:spPr>
          <a:xfrm>
            <a:off x="5883221" y="4172686"/>
            <a:ext cx="468398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1200" b="1" dirty="0" err="1">
                <a:solidFill>
                  <a:srgbClr val="FF0000"/>
                </a:solidFill>
              </a:rPr>
              <a:t>tx</a:t>
            </a:r>
            <a:r>
              <a:rPr lang="en-US" sz="1200" b="1" dirty="0">
                <a:solidFill>
                  <a:srgbClr val="FF0000"/>
                </a:solidFill>
              </a:rPr>
              <a:t> </a:t>
            </a:r>
            <a:r>
              <a:rPr lang="en-US" sz="1200" b="1" dirty="0" err="1">
                <a:solidFill>
                  <a:srgbClr val="FF0000"/>
                </a:solidFill>
              </a:rPr>
              <a:t>rx</a:t>
            </a:r>
            <a:endParaRPr lang="en-SG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95942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9666D68C-8DCD-0D85-D9E5-E84A5CEC7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8385" y="218011"/>
            <a:ext cx="582375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13AF79-DC2B-CF24-78A4-AC5A59F4D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887" y="1500441"/>
            <a:ext cx="2914650" cy="1543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080E51-B02E-87DF-DC83-74BBD197B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38" y="1440656"/>
            <a:ext cx="11049000" cy="7524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8581D6-B4D5-973D-A9CB-F0C7DABF1A25}"/>
              </a:ext>
            </a:extLst>
          </p:cNvPr>
          <p:cNvSpPr txBox="1"/>
          <p:nvPr/>
        </p:nvSpPr>
        <p:spPr>
          <a:xfrm>
            <a:off x="4257748" y="584102"/>
            <a:ext cx="31481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USING UART – SERIAL COMMS </a:t>
            </a:r>
          </a:p>
          <a:p>
            <a:r>
              <a:rPr lang="en-US" b="1" dirty="0"/>
              <a:t>VC02 &lt;&gt; Microcontroller (Pico)</a:t>
            </a:r>
            <a:endParaRPr lang="en-SG" b="1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CF1C209-A61F-3267-E892-0679C16DD0E8}"/>
              </a:ext>
            </a:extLst>
          </p:cNvPr>
          <p:cNvGrpSpPr/>
          <p:nvPr/>
        </p:nvGrpSpPr>
        <p:grpSpPr>
          <a:xfrm>
            <a:off x="2453048" y="3429000"/>
            <a:ext cx="5744036" cy="1544141"/>
            <a:chOff x="2453048" y="3429000"/>
            <a:chExt cx="5744036" cy="1544141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1D409F6-F63F-39AE-C309-75ABE7333C10}"/>
                </a:ext>
              </a:extLst>
            </p:cNvPr>
            <p:cNvGrpSpPr/>
            <p:nvPr/>
          </p:nvGrpSpPr>
          <p:grpSpPr>
            <a:xfrm>
              <a:off x="2453048" y="3429000"/>
              <a:ext cx="5744036" cy="1544141"/>
              <a:chOff x="1930986" y="3426074"/>
              <a:chExt cx="5744036" cy="1544141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7F073FB-F547-6227-8F37-D5621691C6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30986" y="3731420"/>
                <a:ext cx="2914650" cy="933450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8658812F-C84E-8828-1DF7-D0815FFC87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96638" y="3426074"/>
                <a:ext cx="1278384" cy="1544141"/>
              </a:xfrm>
              <a:prstGeom prst="rect">
                <a:avLst/>
              </a:prstGeom>
            </p:spPr>
          </p:pic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C8E2471-4531-5CB6-81D5-6EF7349696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6305" y="4200756"/>
                <a:ext cx="1659783" cy="0"/>
              </a:xfrm>
              <a:prstGeom prst="line">
                <a:avLst/>
              </a:prstGeom>
              <a:ln w="349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B46B5F0-A689-1B2E-DB49-51C12DB26910}"/>
                </a:ext>
              </a:extLst>
            </p:cNvPr>
            <p:cNvSpPr txBox="1"/>
            <p:nvPr/>
          </p:nvSpPr>
          <p:spPr>
            <a:xfrm>
              <a:off x="5458556" y="3734346"/>
              <a:ext cx="1369286" cy="3693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Serial Comm</a:t>
              </a:r>
              <a:endParaRPr lang="en-SG" dirty="0"/>
            </a:p>
          </p:txBody>
        </p:sp>
      </p:grpSp>
    </p:spTree>
    <p:extLst>
      <p:ext uri="{BB962C8B-B14F-4D97-AF65-F5344CB8AC3E}">
        <p14:creationId xmlns:p14="http://schemas.microsoft.com/office/powerpoint/2010/main" val="1282280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DBE407-0604-8267-27D0-7FD86CCC1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9702"/>
            <a:ext cx="12192000" cy="332034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56BBFB9-8FE8-C766-4A5C-5C5AF3CAA39D}"/>
              </a:ext>
            </a:extLst>
          </p:cNvPr>
          <p:cNvSpPr/>
          <p:nvPr/>
        </p:nvSpPr>
        <p:spPr>
          <a:xfrm>
            <a:off x="8864081" y="1455576"/>
            <a:ext cx="914400" cy="354563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2CAA59-2141-8659-3738-BCBF54CFCCA0}"/>
              </a:ext>
            </a:extLst>
          </p:cNvPr>
          <p:cNvSpPr txBox="1"/>
          <p:nvPr/>
        </p:nvSpPr>
        <p:spPr>
          <a:xfrm>
            <a:off x="4766469" y="4829452"/>
            <a:ext cx="2659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Breakout to demo on Web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88419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925</TotalTime>
  <Words>243</Words>
  <Application>Microsoft Office PowerPoint</Application>
  <PresentationFormat>Widescreen</PresentationFormat>
  <Paragraphs>52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Soon Seng Goh</dc:creator>
  <cp:lastModifiedBy>Soon Seng Goh</cp:lastModifiedBy>
  <cp:revision>14</cp:revision>
  <dcterms:created xsi:type="dcterms:W3CDTF">2026-07-03T09:18:29Z</dcterms:created>
  <dcterms:modified xsi:type="dcterms:W3CDTF">2026-07-10T08:41:07Z</dcterms:modified>
</cp:coreProperties>
</file>
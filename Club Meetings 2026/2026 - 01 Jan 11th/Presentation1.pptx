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3" r:id="rId3"/>
    <p:sldId id="274" r:id="rId4"/>
    <p:sldId id="275" r:id="rId5"/>
    <p:sldId id="276" r:id="rId6"/>
    <p:sldId id="258" r:id="rId7"/>
    <p:sldId id="259" r:id="rId8"/>
    <p:sldId id="263" r:id="rId9"/>
    <p:sldId id="264" r:id="rId10"/>
    <p:sldId id="260" r:id="rId11"/>
    <p:sldId id="261" r:id="rId12"/>
    <p:sldId id="262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C2E2-DB56-B3DF-9165-2BFD9BF63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80E2E-A7FC-BE78-9DF6-D48FB7F56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A40A3-C8B7-7C30-4A08-134AA1638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3BC7A-D8AA-4AC4-8244-2AD3B5F6B784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A49F9-051E-447D-32C3-FA2E089A1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8F244-3F3C-66A5-424E-38254F38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FDF73-A16F-42B2-8FD3-A633A2ACE6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07694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44C54-3C1F-32E6-8CE0-FCCF2B44F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27025-D9AF-D2CA-3DAF-C4E580724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A71F2-912E-770E-3FCE-DD3A042E7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3BC7A-D8AA-4AC4-8244-2AD3B5F6B784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8C5C1-22BD-A340-7F9F-23696213A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3318F-5207-C2CB-48C2-AFC2AE09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FDF73-A16F-42B2-8FD3-A633A2ACE6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8673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3E1F2-C82A-AA4B-E05B-4539E7B9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6D8C1-AC50-6C98-EBD9-2830DE0F1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44972-9830-8A81-05F4-98BCDE455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3BC7A-D8AA-4AC4-8244-2AD3B5F6B784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3771A-17A3-9A84-F627-EB605F64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6D5AA-9FB2-EC23-15AE-23978444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FDF73-A16F-42B2-8FD3-A633A2ACE6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329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788FD-F9F3-0DD8-A8B1-67E9806E8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29A17-AA1E-CE94-9700-73E1AF349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AB1BA-74DF-AB32-1DB2-75769C29D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37C04-E164-30E1-4824-4C650C99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3BC7A-D8AA-4AC4-8244-2AD3B5F6B784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9E2AF-310B-E2FB-1E94-BB8D3DC0A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504D5-C756-C504-BECD-7AA5E620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FDF73-A16F-42B2-8FD3-A633A2ACE6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4413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BFEB-C9E4-072E-2F78-F30D50569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3F85F-969B-C0BE-8912-5CD0A3E8D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7F862-B325-6C68-2B99-2FA77CDC8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6C1900-A75C-84B1-B943-B27EFFEF2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D98D24-0B2C-BA3F-7EF3-7F31FAFFB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B409F5-B367-A9CB-13F9-14B89AC48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3BC7A-D8AA-4AC4-8244-2AD3B5F6B784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B062D4-57BC-7C9F-81B8-184AF19C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42D21A-9B46-8E52-850B-391CCD72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FDF73-A16F-42B2-8FD3-A633A2ACE6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7223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2C6AA-4927-0FB4-84AC-7B78F7101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BC0363-4D72-4EE4-C2A8-D098C38C1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3BC7A-D8AA-4AC4-8244-2AD3B5F6B784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B202D3-C902-11E1-4803-310211E19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B5ED7-9E1C-0E82-B9F8-8C0590E0F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FDF73-A16F-42B2-8FD3-A633A2ACE6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82840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86E2BD-3598-CE23-B0F4-C69BE23A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3BC7A-D8AA-4AC4-8244-2AD3B5F6B784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3818C4-E352-1E69-E171-CDB17B645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99E83-29BC-256C-6D81-6ECF0009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FDF73-A16F-42B2-8FD3-A633A2ACE6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1895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C0B35-9A6C-AC97-F3CE-EDBA76C68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99A96-47BB-6533-6CF2-E2A2A23F3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45715-9FCF-01EF-EC14-2870D4DA1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61883-AD3D-650F-9DE4-13A46A2F6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3BC7A-D8AA-4AC4-8244-2AD3B5F6B784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7E97C-6704-1EEA-958B-83051758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422A4-2701-26D4-340D-791474B9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FDF73-A16F-42B2-8FD3-A633A2ACE6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354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8DC8-066C-9D5F-AE38-F583D57E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E4054F-FE07-365D-572F-F2772C9AF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977F1-E4EB-FC92-7A32-AA202771F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3FA4F-7EBD-A61D-2AC2-85FD9404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3BC7A-D8AA-4AC4-8244-2AD3B5F6B784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8377D-0AB7-AC7A-B630-26B684ECD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50AA2-C256-05F5-3848-64C172536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FDF73-A16F-42B2-8FD3-A633A2ACE6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348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851FF-E9A8-C059-C9DE-374834ABE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933EA-C8F7-89BC-F646-E30652267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3FEB4-CED5-F178-11D2-B2A99162D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3BC7A-D8AA-4AC4-8244-2AD3B5F6B784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2C5F8-0B6E-2BAB-0443-814CCB121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E27F7-6292-DA9B-8314-3E26676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FDF73-A16F-42B2-8FD3-A633A2ACE6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43877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21AED3-E67B-1212-7AAC-E877FA762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BE507-FC3D-E13E-E511-976C4ED62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B70D5-AD6B-CC52-7F3C-E4C185731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3BC7A-D8AA-4AC4-8244-2AD3B5F6B784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A184D-CDA5-37D7-ACC4-7AE49783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94635-F14E-42E0-FC64-BFC7A7131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FDF73-A16F-42B2-8FD3-A633A2ACE6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1045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E8681-0718-1D62-43AE-35887C556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2CFA8-B430-D92A-D83E-4C05F1D2F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2289-907D-88C3-82F6-85F300C4B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3BC7A-D8AA-4AC4-8244-2AD3B5F6B784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7B9C1-FD0E-D7EA-EC32-7B5F67450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0444-A792-8065-72B0-D9A550650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FDF73-A16F-42B2-8FD3-A633A2ACE6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3618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6EEBCAA-A842-DCF8-0F2E-3E2584C23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642" y="4812699"/>
            <a:ext cx="1076325" cy="39052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CD69FC6-22D4-3EBD-2602-BDF60333A8FF}"/>
              </a:ext>
            </a:extLst>
          </p:cNvPr>
          <p:cNvGrpSpPr/>
          <p:nvPr/>
        </p:nvGrpSpPr>
        <p:grpSpPr>
          <a:xfrm>
            <a:off x="919439" y="1150462"/>
            <a:ext cx="9039225" cy="5534025"/>
            <a:chOff x="919439" y="1150462"/>
            <a:chExt cx="9039225" cy="553402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461ACAC-0E35-D789-1D42-B58E198DE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9439" y="1150462"/>
              <a:ext cx="9039225" cy="553402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4CE59FE-0D53-B6D2-D28C-4780771ED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3013378" y="221347"/>
              <a:ext cx="230880" cy="338937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1DB507E-B097-9BD8-5F8D-2FE08E6C7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6200000">
              <a:off x="3026884" y="2503601"/>
              <a:ext cx="230880" cy="3389373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AF7F117-0FCB-F08F-BA94-EA426EA4950D}"/>
                </a:ext>
              </a:extLst>
            </p:cNvPr>
            <p:cNvSpPr txBox="1"/>
            <p:nvPr/>
          </p:nvSpPr>
          <p:spPr>
            <a:xfrm>
              <a:off x="4237703" y="6258093"/>
              <a:ext cx="1307794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DS3231 RTC</a:t>
              </a:r>
              <a:endParaRPr lang="en-SG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BE11CF0-09B3-08BF-CED6-A385659A5E86}"/>
                </a:ext>
              </a:extLst>
            </p:cNvPr>
            <p:cNvSpPr txBox="1"/>
            <p:nvPr/>
          </p:nvSpPr>
          <p:spPr>
            <a:xfrm>
              <a:off x="7580775" y="5338206"/>
              <a:ext cx="1573316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SD Card Writer</a:t>
              </a:r>
              <a:endParaRPr lang="en-SG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07DFC81-ACD7-6B3D-5992-B2EDE2390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86272" y="2849191"/>
              <a:ext cx="714375" cy="36195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3869554-9AF3-F23A-5C72-E1581BC8E6A3}"/>
              </a:ext>
            </a:extLst>
          </p:cNvPr>
          <p:cNvSpPr txBox="1"/>
          <p:nvPr/>
        </p:nvSpPr>
        <p:spPr>
          <a:xfrm>
            <a:off x="1054753" y="781130"/>
            <a:ext cx="4701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DATE TIME AND DATA LOGGING PRESENTATION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954661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D0E198-9091-FB35-4342-43EFF241DBA3}"/>
              </a:ext>
            </a:extLst>
          </p:cNvPr>
          <p:cNvSpPr txBox="1"/>
          <p:nvPr/>
        </p:nvSpPr>
        <p:spPr>
          <a:xfrm>
            <a:off x="4135623" y="532691"/>
            <a:ext cx="3920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The case for datalogging</a:t>
            </a:r>
          </a:p>
          <a:p>
            <a:pPr algn="ctr"/>
            <a:r>
              <a:rPr lang="en-US" dirty="0"/>
              <a:t>Data without date time stamp is useless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FCBB60-0DE4-17CE-8B57-23F242DBB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279" y="1328053"/>
            <a:ext cx="4991100" cy="1685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4CFFA2-B75E-BACF-1CE4-A1C41EA48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691" y="3013978"/>
            <a:ext cx="5038725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8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B39C60-0004-2E37-0C0F-7EDEDCA7D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225" y="699479"/>
            <a:ext cx="4686300" cy="2657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327AC8-EB69-6343-81A6-CBC7F7771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125" y="3356954"/>
            <a:ext cx="47625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37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60B2B0-AFD8-67B6-201C-EC83FA0B4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725" y="738086"/>
            <a:ext cx="5162550" cy="3086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B15978-CB5F-4083-D3A2-EE385A9FC221}"/>
              </a:ext>
            </a:extLst>
          </p:cNvPr>
          <p:cNvSpPr txBox="1"/>
          <p:nvPr/>
        </p:nvSpPr>
        <p:spPr>
          <a:xfrm>
            <a:off x="3514725" y="4017523"/>
            <a:ext cx="6637394" cy="1754326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Storage Without Time Is Just Numbers in a File</a:t>
            </a:r>
          </a:p>
          <a:p>
            <a:r>
              <a:rPr lang="en-US" dirty="0"/>
              <a:t>At that point, you don’t really have </a:t>
            </a:r>
            <a:r>
              <a:rPr lang="en-US" i="1" dirty="0"/>
              <a:t>data</a:t>
            </a:r>
            <a:r>
              <a:rPr lang="en-US" dirty="0"/>
              <a:t>—you have </a:t>
            </a:r>
            <a:r>
              <a:rPr lang="en-US" b="1" dirty="0"/>
              <a:t>detached values</a:t>
            </a:r>
            <a:r>
              <a:rPr lang="en-US" dirty="0"/>
              <a:t>.</a:t>
            </a:r>
          </a:p>
          <a:p>
            <a:r>
              <a:rPr lang="en-US" dirty="0"/>
              <a:t>In practice:</a:t>
            </a:r>
          </a:p>
          <a:p>
            <a:r>
              <a:rPr lang="en-US" b="1" dirty="0"/>
              <a:t>Timestamp + value = information</a:t>
            </a:r>
            <a:br>
              <a:rPr lang="en-US" dirty="0"/>
            </a:br>
            <a:r>
              <a:rPr lang="en-US" b="1" dirty="0"/>
              <a:t>Value alone = noise</a:t>
            </a:r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4430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0D03FD-DDB0-368F-C262-496110C84DF9}"/>
              </a:ext>
            </a:extLst>
          </p:cNvPr>
          <p:cNvSpPr txBox="1"/>
          <p:nvPr/>
        </p:nvSpPr>
        <p:spPr>
          <a:xfrm>
            <a:off x="3570051" y="972767"/>
            <a:ext cx="40806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our previous example we learn how to:</a:t>
            </a:r>
          </a:p>
          <a:p>
            <a:r>
              <a:rPr lang="en-US" dirty="0"/>
              <a:t>Get Date – time information</a:t>
            </a:r>
          </a:p>
          <a:p>
            <a:r>
              <a:rPr lang="en-US" dirty="0"/>
              <a:t>Get Pico’s internal temperature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8B93BB-CE4B-05E7-4913-F2C5DC566593}"/>
              </a:ext>
            </a:extLst>
          </p:cNvPr>
          <p:cNvSpPr txBox="1"/>
          <p:nvPr/>
        </p:nvSpPr>
        <p:spPr>
          <a:xfrm>
            <a:off x="3570051" y="2292487"/>
            <a:ext cx="6289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now want these information data-logged for future reference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4D8285-4339-F442-CAFB-A75F66A813AB}"/>
              </a:ext>
            </a:extLst>
          </p:cNvPr>
          <p:cNvSpPr txBox="1"/>
          <p:nvPr/>
        </p:nvSpPr>
        <p:spPr>
          <a:xfrm>
            <a:off x="3570051" y="2873543"/>
            <a:ext cx="66476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save the date/time information with the temperature values: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Pico’s internal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a SD Card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Cloud services such as Thingspeak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DB system such as </a:t>
            </a:r>
            <a:r>
              <a:rPr lang="en-US" dirty="0" err="1"/>
              <a:t>InfluxDB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778511-40B3-27D1-9EFA-AB22465B4CAD}"/>
              </a:ext>
            </a:extLst>
          </p:cNvPr>
          <p:cNvSpPr/>
          <p:nvPr/>
        </p:nvSpPr>
        <p:spPr>
          <a:xfrm>
            <a:off x="3779998" y="3429000"/>
            <a:ext cx="1365933" cy="301085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1CD60-2854-AF75-43C6-4D4DC9EE7FBC}"/>
              </a:ext>
            </a:extLst>
          </p:cNvPr>
          <p:cNvSpPr txBox="1"/>
          <p:nvPr/>
        </p:nvSpPr>
        <p:spPr>
          <a:xfrm>
            <a:off x="3587268" y="4484451"/>
            <a:ext cx="41906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with getting accurate Date/Time</a:t>
            </a:r>
          </a:p>
          <a:p>
            <a:r>
              <a:rPr lang="en-US" dirty="0"/>
              <a:t>Challenges in the field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Source for Accurate Date/Time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Availability of Wi-fi/Internet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5194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C8AECD-B756-0EBA-4EC0-92136FAE5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07" y="0"/>
            <a:ext cx="864461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D45B87-DD43-5309-7DD1-8581B76CD33D}"/>
              </a:ext>
            </a:extLst>
          </p:cNvPr>
          <p:cNvSpPr/>
          <p:nvPr/>
        </p:nvSpPr>
        <p:spPr>
          <a:xfrm>
            <a:off x="873223" y="2823665"/>
            <a:ext cx="7784394" cy="454556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55743A-A6A3-E822-ECD1-656D3B831CA0}"/>
              </a:ext>
            </a:extLst>
          </p:cNvPr>
          <p:cNvSpPr/>
          <p:nvPr/>
        </p:nvSpPr>
        <p:spPr>
          <a:xfrm>
            <a:off x="2368040" y="5116150"/>
            <a:ext cx="2379058" cy="165969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B11F9A-AFC5-DDF9-ADA3-B868267BA82D}"/>
              </a:ext>
            </a:extLst>
          </p:cNvPr>
          <p:cNvSpPr/>
          <p:nvPr/>
        </p:nvSpPr>
        <p:spPr>
          <a:xfrm>
            <a:off x="2538919" y="3705636"/>
            <a:ext cx="2548647" cy="162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E002E9-4D94-0061-14FE-BC52A82CB09D}"/>
              </a:ext>
            </a:extLst>
          </p:cNvPr>
          <p:cNvSpPr/>
          <p:nvPr/>
        </p:nvSpPr>
        <p:spPr>
          <a:xfrm>
            <a:off x="1479578" y="4035780"/>
            <a:ext cx="5748073" cy="6334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AEBBB9-11C7-103B-4882-4017B85650C6}"/>
              </a:ext>
            </a:extLst>
          </p:cNvPr>
          <p:cNvSpPr txBox="1"/>
          <p:nvPr/>
        </p:nvSpPr>
        <p:spPr>
          <a:xfrm>
            <a:off x="7118089" y="211503"/>
            <a:ext cx="3503075" cy="120032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Example_1.py</a:t>
            </a:r>
          </a:p>
          <a:p>
            <a:r>
              <a:rPr lang="en-US" dirty="0"/>
              <a:t>#</a:t>
            </a:r>
            <a:r>
              <a:rPr lang="en-US" b="1" dirty="0">
                <a:solidFill>
                  <a:srgbClr val="FF0000"/>
                </a:solidFill>
              </a:rPr>
              <a:t>connected to laptop</a:t>
            </a:r>
          </a:p>
          <a:p>
            <a:r>
              <a:rPr lang="en-US" dirty="0"/>
              <a:t>#no DS3231 real time clock module</a:t>
            </a:r>
          </a:p>
          <a:p>
            <a:r>
              <a:rPr lang="en-US" dirty="0"/>
              <a:t>#date time comes from the laptop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16388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242483-5CD1-B0A6-E113-F22BBB41C7F0}"/>
              </a:ext>
            </a:extLst>
          </p:cNvPr>
          <p:cNvSpPr txBox="1"/>
          <p:nvPr/>
        </p:nvSpPr>
        <p:spPr>
          <a:xfrm>
            <a:off x="1634246" y="1011677"/>
            <a:ext cx="43378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Save the program as main.py</a:t>
            </a:r>
          </a:p>
          <a:p>
            <a:r>
              <a:rPr lang="en-US" dirty="0"/>
              <a:t>Unplug from laptop’s </a:t>
            </a:r>
            <a:r>
              <a:rPr lang="en-US" dirty="0" err="1"/>
              <a:t>usb</a:t>
            </a:r>
            <a:r>
              <a:rPr lang="en-US" dirty="0"/>
              <a:t> </a:t>
            </a:r>
          </a:p>
          <a:p>
            <a:r>
              <a:rPr lang="en-US" dirty="0"/>
              <a:t>Run from power bank</a:t>
            </a:r>
          </a:p>
          <a:p>
            <a:endParaRPr lang="en-US" dirty="0"/>
          </a:p>
          <a:p>
            <a:r>
              <a:rPr lang="en-US" dirty="0"/>
              <a:t>The date / time is now some unknown value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4E299B-F74C-C3FE-7BDB-619D1177A23E}"/>
              </a:ext>
            </a:extLst>
          </p:cNvPr>
          <p:cNvSpPr txBox="1"/>
          <p:nvPr/>
        </p:nvSpPr>
        <p:spPr>
          <a:xfrm>
            <a:off x="1634246" y="2636197"/>
            <a:ext cx="66225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you have </a:t>
            </a:r>
            <a:r>
              <a:rPr lang="en-US" dirty="0" err="1"/>
              <a:t>wifi</a:t>
            </a:r>
            <a:r>
              <a:rPr lang="en-US" dirty="0"/>
              <a:t> and internet connection, you can still get the correct </a:t>
            </a:r>
          </a:p>
          <a:p>
            <a:r>
              <a:rPr lang="en-US" dirty="0"/>
              <a:t>date time for the Pico W</a:t>
            </a:r>
          </a:p>
          <a:p>
            <a:endParaRPr lang="en-US" dirty="0"/>
          </a:p>
          <a:p>
            <a:r>
              <a:rPr lang="en-US" dirty="0"/>
              <a:t>- Using NTP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2666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A82899-F64D-E4A2-CA09-D8C693A2E6F4}"/>
              </a:ext>
            </a:extLst>
          </p:cNvPr>
          <p:cNvSpPr txBox="1"/>
          <p:nvPr/>
        </p:nvSpPr>
        <p:spPr>
          <a:xfrm>
            <a:off x="1926455" y="1033768"/>
            <a:ext cx="1432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NTP?</a:t>
            </a:r>
          </a:p>
          <a:p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8C41B-783B-F5A2-4018-68379E282442}"/>
              </a:ext>
            </a:extLst>
          </p:cNvPr>
          <p:cNvSpPr txBox="1"/>
          <p:nvPr/>
        </p:nvSpPr>
        <p:spPr>
          <a:xfrm>
            <a:off x="3221685" y="2123982"/>
            <a:ext cx="6094378" cy="2308324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NTP is</a:t>
            </a:r>
          </a:p>
          <a:p>
            <a:pPr>
              <a:buNone/>
            </a:pPr>
            <a:r>
              <a:rPr lang="en-US" b="1" dirty="0"/>
              <a:t>NTP = Network Time Protocol</a:t>
            </a:r>
            <a:endParaRPr lang="en-US" dirty="0"/>
          </a:p>
          <a:p>
            <a:pPr>
              <a:buNone/>
            </a:pPr>
            <a:r>
              <a:rPr lang="en-US" dirty="0"/>
              <a:t>It is a </a:t>
            </a:r>
            <a:r>
              <a:rPr lang="en-US" b="1" dirty="0"/>
              <a:t>protocol used to get the accurate current time from servers on the internet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gives </a:t>
            </a:r>
            <a:r>
              <a:rPr lang="en-US" b="1" dirty="0"/>
              <a:t>UTC time</a:t>
            </a:r>
            <a:r>
              <a:rPr lang="en-US" dirty="0"/>
              <a:t> (Coordinated Universal Time)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accurate — usually within a few milliseconds to a second</a:t>
            </a:r>
          </a:p>
          <a:p>
            <a:pPr>
              <a:buNone/>
            </a:pPr>
            <a:r>
              <a:rPr lang="en-US" dirty="0"/>
              <a:t>Think of it as asking a “time server”:</a:t>
            </a:r>
          </a:p>
          <a:p>
            <a:pPr>
              <a:buNone/>
            </a:pPr>
            <a:r>
              <a:rPr lang="en-US" dirty="0"/>
              <a:t>“Hey, what time is it right now in UTC?”</a:t>
            </a:r>
          </a:p>
        </p:txBody>
      </p:sp>
    </p:spTree>
    <p:extLst>
      <p:ext uri="{BB962C8B-B14F-4D97-AF65-F5344CB8AC3E}">
        <p14:creationId xmlns:p14="http://schemas.microsoft.com/office/powerpoint/2010/main" val="253361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0F97E5-857C-86C1-7D7D-5B00A4DF7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95" y="886657"/>
            <a:ext cx="6648450" cy="1143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8F321F-507D-1A57-C676-6183E9409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95" y="2029657"/>
            <a:ext cx="6848475" cy="2981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A281C1-ABB3-845A-D5E9-E7C4278E9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488" y="786737"/>
            <a:ext cx="704850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21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24F031-4B24-E99A-D0A9-5887A6475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21" y="531170"/>
            <a:ext cx="7810500" cy="3752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793615-48A4-B701-6A84-222DE7309BFD}"/>
              </a:ext>
            </a:extLst>
          </p:cNvPr>
          <p:cNvSpPr txBox="1"/>
          <p:nvPr/>
        </p:nvSpPr>
        <p:spPr>
          <a:xfrm>
            <a:off x="8100583" y="531170"/>
            <a:ext cx="3854711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Example_2.py</a:t>
            </a:r>
          </a:p>
          <a:p>
            <a:r>
              <a:rPr lang="en-US" dirty="0"/>
              <a:t>#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connected to laptop</a:t>
            </a:r>
          </a:p>
          <a:p>
            <a:r>
              <a:rPr lang="en-US" dirty="0"/>
              <a:t>#no DS3231 real time clock module</a:t>
            </a:r>
          </a:p>
          <a:p>
            <a:r>
              <a:rPr lang="en-US" dirty="0"/>
              <a:t>#date time comes from the </a:t>
            </a:r>
            <a:r>
              <a:rPr lang="en-US" b="1" dirty="0">
                <a:solidFill>
                  <a:srgbClr val="002060"/>
                </a:solidFill>
              </a:rPr>
              <a:t>Internet</a:t>
            </a:r>
            <a:r>
              <a:rPr lang="en-US" dirty="0"/>
              <a:t> 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E11C6A-B11B-0C5C-07D8-FC9EA90BD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858" y="2136132"/>
            <a:ext cx="6267450" cy="429577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C7726B5-3068-BEDF-D488-6C554E4E61D0}"/>
              </a:ext>
            </a:extLst>
          </p:cNvPr>
          <p:cNvGrpSpPr/>
          <p:nvPr/>
        </p:nvGrpSpPr>
        <p:grpSpPr>
          <a:xfrm>
            <a:off x="4966858" y="1649749"/>
            <a:ext cx="6267450" cy="4782158"/>
            <a:chOff x="4966858" y="1649749"/>
            <a:chExt cx="6267450" cy="47821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E725D00-F33D-B741-0ACC-BF3E2A195988}"/>
                </a:ext>
              </a:extLst>
            </p:cNvPr>
            <p:cNvSpPr/>
            <p:nvPr/>
          </p:nvSpPr>
          <p:spPr>
            <a:xfrm>
              <a:off x="4966858" y="2136132"/>
              <a:ext cx="6267450" cy="4295775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465DB36-BF14-E853-EE9C-64B284475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1515" y="1649749"/>
              <a:ext cx="457200" cy="830804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641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CF35AF-E99B-6472-6EEB-FCEC00C15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55" y="695473"/>
            <a:ext cx="63055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99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4064CF9-3C24-88B3-C595-C374A3DED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57" y="247650"/>
            <a:ext cx="7448550" cy="63627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3A236D2-0AE4-F452-B61E-8BB4535FB579}"/>
              </a:ext>
            </a:extLst>
          </p:cNvPr>
          <p:cNvGrpSpPr/>
          <p:nvPr/>
        </p:nvGrpSpPr>
        <p:grpSpPr>
          <a:xfrm>
            <a:off x="593387" y="335549"/>
            <a:ext cx="11663142" cy="3477694"/>
            <a:chOff x="593387" y="335549"/>
            <a:chExt cx="11663142" cy="347769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8F5299-42BE-D404-13E0-D46A4E155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24180" y="335549"/>
              <a:ext cx="5232349" cy="3477694"/>
            </a:xfrm>
            <a:prstGeom prst="rect">
              <a:avLst/>
            </a:prstGeom>
            <a:solidFill>
              <a:schemeClr val="accent1"/>
            </a:solidFill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EDE4C3-CDE0-6E9D-49F4-85B4FC328598}"/>
                </a:ext>
              </a:extLst>
            </p:cNvPr>
            <p:cNvSpPr/>
            <p:nvPr/>
          </p:nvSpPr>
          <p:spPr>
            <a:xfrm>
              <a:off x="593387" y="335549"/>
              <a:ext cx="2821021" cy="408562"/>
            </a:xfrm>
            <a:prstGeom prst="rect">
              <a:avLst/>
            </a:prstGeom>
            <a:noFill/>
            <a:ln w="317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EAE71C6-5EDE-D1E0-2DCE-731B34EE9655}"/>
                </a:ext>
              </a:extLst>
            </p:cNvPr>
            <p:cNvCxnSpPr>
              <a:cxnSpLocks/>
            </p:cNvCxnSpPr>
            <p:nvPr/>
          </p:nvCxnSpPr>
          <p:spPr>
            <a:xfrm>
              <a:off x="3414408" y="539830"/>
              <a:ext cx="4236599" cy="1298698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0F10E12-411F-9043-F0A6-D5F87AB175BD}"/>
              </a:ext>
            </a:extLst>
          </p:cNvPr>
          <p:cNvSpPr txBox="1"/>
          <p:nvPr/>
        </p:nvSpPr>
        <p:spPr>
          <a:xfrm>
            <a:off x="7100557" y="4098884"/>
            <a:ext cx="4463401" cy="193899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This module converts the 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Data we get from the </a:t>
            </a:r>
            <a:r>
              <a:rPr lang="en-US" sz="1400" b="1" dirty="0" err="1">
                <a:solidFill>
                  <a:srgbClr val="002060"/>
                </a:solidFill>
              </a:rPr>
              <a:t>ntpserver</a:t>
            </a:r>
            <a:endParaRPr lang="en-US" sz="1400" b="1" dirty="0">
              <a:solidFill>
                <a:srgbClr val="002060"/>
              </a:solidFill>
            </a:endParaRPr>
          </a:p>
          <a:p>
            <a:r>
              <a:rPr lang="en-US" sz="1400" b="1" dirty="0">
                <a:solidFill>
                  <a:srgbClr val="002060"/>
                </a:solidFill>
              </a:rPr>
              <a:t>Into human readable data</a:t>
            </a:r>
          </a:p>
          <a:p>
            <a:endParaRPr lang="en-US" sz="1400" b="1" dirty="0">
              <a:solidFill>
                <a:srgbClr val="002060"/>
              </a:solidFill>
            </a:endParaRPr>
          </a:p>
          <a:p>
            <a:r>
              <a:rPr lang="en-US" sz="1400" b="1" dirty="0">
                <a:solidFill>
                  <a:srgbClr val="002060"/>
                </a:solidFill>
              </a:rPr>
              <a:t>(2026,1,3,5,9,6,2,0)</a:t>
            </a:r>
          </a:p>
          <a:p>
            <a:r>
              <a:rPr lang="en-US" sz="1400" b="1" dirty="0" err="1">
                <a:solidFill>
                  <a:srgbClr val="002060"/>
                </a:solidFill>
              </a:rPr>
              <a:t>year,month,day,weekday,hour,minute,second,subsecond</a:t>
            </a:r>
            <a:r>
              <a:rPr lang="en-US" sz="1400" b="1" dirty="0">
                <a:solidFill>
                  <a:srgbClr val="002060"/>
                </a:solidFill>
              </a:rPr>
              <a:t>)</a:t>
            </a:r>
          </a:p>
          <a:p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8587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C943C3-F312-0DA0-95E0-C7772E40A08E}"/>
              </a:ext>
            </a:extLst>
          </p:cNvPr>
          <p:cNvSpPr txBox="1"/>
          <p:nvPr/>
        </p:nvSpPr>
        <p:spPr>
          <a:xfrm>
            <a:off x="4261876" y="3059668"/>
            <a:ext cx="366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Example_3.py and setting_ds3231.py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71460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3636F3-12E5-0211-19BF-7AEB0C16D9E3}"/>
              </a:ext>
            </a:extLst>
          </p:cNvPr>
          <p:cNvSpPr txBox="1"/>
          <p:nvPr/>
        </p:nvSpPr>
        <p:spPr>
          <a:xfrm>
            <a:off x="1161340" y="404016"/>
            <a:ext cx="7172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setting_ds3231.py – set the date time clock on the ds3231 Real Time Clock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2D7DD-72D6-5456-1039-717B94571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100" y="860796"/>
            <a:ext cx="5553075" cy="1362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8CD096-32A6-1C28-ED09-D809EA7DB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00" y="2222871"/>
            <a:ext cx="6753225" cy="2190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C71912-A493-2ECA-60A8-DE3FAA040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961" y="4413621"/>
            <a:ext cx="554355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1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3D0D21-0B00-2EC6-53F2-95FCA1756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61" y="1108548"/>
            <a:ext cx="5743575" cy="4076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B0ADDE-CFB2-DBC7-6BC6-0AC8C70F7AB8}"/>
              </a:ext>
            </a:extLst>
          </p:cNvPr>
          <p:cNvSpPr txBox="1"/>
          <p:nvPr/>
        </p:nvSpPr>
        <p:spPr>
          <a:xfrm>
            <a:off x="917798" y="398834"/>
            <a:ext cx="585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Setting_ds3231.py – sets the current time of the ds3231 RTC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6CB504-898B-DD18-77E9-71067E085C0C}"/>
              </a:ext>
            </a:extLst>
          </p:cNvPr>
          <p:cNvSpPr/>
          <p:nvPr/>
        </p:nvSpPr>
        <p:spPr>
          <a:xfrm>
            <a:off x="1215957" y="2271409"/>
            <a:ext cx="4688731" cy="384243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C6EA8-7071-5FBB-9D64-0323394078EE}"/>
              </a:ext>
            </a:extLst>
          </p:cNvPr>
          <p:cNvSpPr/>
          <p:nvPr/>
        </p:nvSpPr>
        <p:spPr>
          <a:xfrm>
            <a:off x="1095984" y="4010227"/>
            <a:ext cx="5119990" cy="960607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467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A0FF3C-D988-6761-CF09-7529816A3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14" y="652462"/>
            <a:ext cx="6638925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555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F3533-897B-BEF4-9D86-8D95DFD0B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80" y="793512"/>
            <a:ext cx="8420100" cy="3267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D30935-A0D6-1D19-C68A-80A27ABC681F}"/>
              </a:ext>
            </a:extLst>
          </p:cNvPr>
          <p:cNvSpPr txBox="1"/>
          <p:nvPr/>
        </p:nvSpPr>
        <p:spPr>
          <a:xfrm>
            <a:off x="924128" y="4060587"/>
            <a:ext cx="5620321" cy="92333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Once the current time is set, the ds3231 RTC will continue</a:t>
            </a:r>
          </a:p>
          <a:p>
            <a:r>
              <a:rPr lang="en-US" dirty="0"/>
              <a:t>To update itself with the current date/time like our watch</a:t>
            </a:r>
            <a:r>
              <a:rPr lang="en-SG" dirty="0"/>
              <a:t>.</a:t>
            </a:r>
          </a:p>
          <a:p>
            <a:r>
              <a:rPr lang="en-SG" dirty="0"/>
              <a:t>A </a:t>
            </a:r>
            <a:r>
              <a:rPr lang="en-SG" dirty="0" err="1"/>
              <a:t>pico</a:t>
            </a:r>
            <a:r>
              <a:rPr lang="en-SG" dirty="0"/>
              <a:t> connected to it will get the RTC from it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FC883C-C5EB-F86A-71FA-4B9A6A95D284}"/>
              </a:ext>
            </a:extLst>
          </p:cNvPr>
          <p:cNvSpPr/>
          <p:nvPr/>
        </p:nvSpPr>
        <p:spPr>
          <a:xfrm>
            <a:off x="924128" y="3606967"/>
            <a:ext cx="3715966" cy="307219"/>
          </a:xfrm>
          <a:prstGeom prst="rect">
            <a:avLst/>
          </a:prstGeom>
          <a:noFill/>
          <a:ln w="412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5FDCE5-0BDE-BD4D-271E-0F248ED592A0}"/>
              </a:ext>
            </a:extLst>
          </p:cNvPr>
          <p:cNvGrpSpPr/>
          <p:nvPr/>
        </p:nvGrpSpPr>
        <p:grpSpPr>
          <a:xfrm>
            <a:off x="4595243" y="1921518"/>
            <a:ext cx="7033769" cy="3985336"/>
            <a:chOff x="4595243" y="1921518"/>
            <a:chExt cx="7033769" cy="398533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BB7D3DC-C1F1-A6B4-E400-744451240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72947" y="1921518"/>
              <a:ext cx="4356065" cy="3985336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F37FD45-6D3B-6E51-E784-1FF1D0750D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5243" y="3171217"/>
              <a:ext cx="2677704" cy="609263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737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68C032-3FA3-6BAF-A292-E1E1B5F3F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32" y="991309"/>
            <a:ext cx="7362825" cy="44862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EEBFCC-EDCE-B2F4-C680-A30D89922E20}"/>
              </a:ext>
            </a:extLst>
          </p:cNvPr>
          <p:cNvSpPr txBox="1"/>
          <p:nvPr/>
        </p:nvSpPr>
        <p:spPr>
          <a:xfrm>
            <a:off x="924128" y="447473"/>
            <a:ext cx="5988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Example_3.py – Using the ds3231 with date that is already set.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21724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95E2A5-DA00-7DA5-A3F3-305CF1EFD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25" y="859175"/>
            <a:ext cx="11087100" cy="48672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35D6D18-DE51-EC01-89AD-2A9650F94209}"/>
              </a:ext>
            </a:extLst>
          </p:cNvPr>
          <p:cNvSpPr/>
          <p:nvPr/>
        </p:nvSpPr>
        <p:spPr>
          <a:xfrm>
            <a:off x="367625" y="703533"/>
            <a:ext cx="10974826" cy="813982"/>
          </a:xfrm>
          <a:prstGeom prst="rect">
            <a:avLst/>
          </a:prstGeom>
          <a:noFill/>
          <a:ln w="349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F179F8-3B6C-D640-75B5-0230CD872663}"/>
              </a:ext>
            </a:extLst>
          </p:cNvPr>
          <p:cNvSpPr/>
          <p:nvPr/>
        </p:nvSpPr>
        <p:spPr>
          <a:xfrm>
            <a:off x="296289" y="3142034"/>
            <a:ext cx="10974826" cy="286966"/>
          </a:xfrm>
          <a:prstGeom prst="rect">
            <a:avLst/>
          </a:prstGeom>
          <a:noFill/>
          <a:ln w="349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EAF273-D046-2EB3-95EE-8FB06BFDBE58}"/>
              </a:ext>
            </a:extLst>
          </p:cNvPr>
          <p:cNvSpPr/>
          <p:nvPr/>
        </p:nvSpPr>
        <p:spPr>
          <a:xfrm>
            <a:off x="367625" y="3725693"/>
            <a:ext cx="7871703" cy="218163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3A0E7A-36DC-4E3A-2CA9-38CDE0E77409}"/>
              </a:ext>
            </a:extLst>
          </p:cNvPr>
          <p:cNvSpPr txBox="1"/>
          <p:nvPr/>
        </p:nvSpPr>
        <p:spPr>
          <a:xfrm>
            <a:off x="3530780" y="4188821"/>
            <a:ext cx="4000006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Then converted to human readable form</a:t>
            </a:r>
          </a:p>
          <a:p>
            <a:r>
              <a:rPr lang="en-US" dirty="0"/>
              <a:t>By these functions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4006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DD196-9093-78FF-B040-792CE8384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29" y="793513"/>
            <a:ext cx="6810375" cy="509587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F8EAD15-2617-8B34-092D-FA888FB378F8}"/>
              </a:ext>
            </a:extLst>
          </p:cNvPr>
          <p:cNvGrpSpPr/>
          <p:nvPr/>
        </p:nvGrpSpPr>
        <p:grpSpPr>
          <a:xfrm>
            <a:off x="6096000" y="442912"/>
            <a:ext cx="5459661" cy="2018185"/>
            <a:chOff x="6096000" y="442912"/>
            <a:chExt cx="5459661" cy="20181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173A9FD-3D4F-D0F3-9312-B2B7D3BE6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73136" y="442912"/>
              <a:ext cx="4382525" cy="1648535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E2318D5-E139-FF55-F57E-1020E6683C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6004" y="1889598"/>
              <a:ext cx="914400" cy="44260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AF240A-F044-A63B-40A7-60783ABA79D2}"/>
                </a:ext>
              </a:extLst>
            </p:cNvPr>
            <p:cNvSpPr/>
            <p:nvPr/>
          </p:nvSpPr>
          <p:spPr>
            <a:xfrm>
              <a:off x="6096000" y="2203313"/>
              <a:ext cx="1077136" cy="257784"/>
            </a:xfrm>
            <a:prstGeom prst="rect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E1C7F5C-04A0-3A68-9E87-905FBE11C24D}"/>
              </a:ext>
            </a:extLst>
          </p:cNvPr>
          <p:cNvGrpSpPr/>
          <p:nvPr/>
        </p:nvGrpSpPr>
        <p:grpSpPr>
          <a:xfrm>
            <a:off x="7186004" y="859796"/>
            <a:ext cx="4453620" cy="3251000"/>
            <a:chOff x="7186004" y="859796"/>
            <a:chExt cx="4453620" cy="32510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CE5B62F-E03E-4F17-10C7-4F6A55C96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6004" y="2896172"/>
              <a:ext cx="4453620" cy="121462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E7449CB-3EC2-5D86-B9C5-AD5EDB0F138B}"/>
                </a:ext>
              </a:extLst>
            </p:cNvPr>
            <p:cNvSpPr/>
            <p:nvPr/>
          </p:nvSpPr>
          <p:spPr>
            <a:xfrm>
              <a:off x="8213388" y="859796"/>
              <a:ext cx="1077136" cy="1029802"/>
            </a:xfrm>
            <a:prstGeom prst="rect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BEFA3C8-5466-6A7C-6120-1B106DD10D78}"/>
                </a:ext>
              </a:extLst>
            </p:cNvPr>
            <p:cNvCxnSpPr>
              <a:cxnSpLocks/>
            </p:cNvCxnSpPr>
            <p:nvPr/>
          </p:nvCxnSpPr>
          <p:spPr>
            <a:xfrm>
              <a:off x="8518091" y="1889598"/>
              <a:ext cx="0" cy="112597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725FAF6-5957-7558-0791-4ED0E5D79446}"/>
              </a:ext>
            </a:extLst>
          </p:cNvPr>
          <p:cNvSpPr txBox="1"/>
          <p:nvPr/>
        </p:nvSpPr>
        <p:spPr>
          <a:xfrm>
            <a:off x="7186004" y="4138231"/>
            <a:ext cx="4000006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Then converted to human readable form</a:t>
            </a:r>
          </a:p>
          <a:p>
            <a:r>
              <a:rPr lang="en-US" dirty="0"/>
              <a:t>By these functions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9384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A7FCBB-5B66-D5DF-CE6D-42F4612A4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93" y="1265406"/>
            <a:ext cx="5314950" cy="4191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4C51DE-D784-A65D-AD7C-E3C46D5E55BD}"/>
              </a:ext>
            </a:extLst>
          </p:cNvPr>
          <p:cNvSpPr txBox="1"/>
          <p:nvPr/>
        </p:nvSpPr>
        <p:spPr>
          <a:xfrm>
            <a:off x="1035793" y="544749"/>
            <a:ext cx="1858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sd_card_demo.py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9C812-2994-BBC3-5E24-27D16ACC3F05}"/>
              </a:ext>
            </a:extLst>
          </p:cNvPr>
          <p:cNvSpPr txBox="1"/>
          <p:nvPr/>
        </p:nvSpPr>
        <p:spPr>
          <a:xfrm>
            <a:off x="7037964" y="2777246"/>
            <a:ext cx="4118243" cy="203132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ssd1306 </a:t>
            </a:r>
            <a:r>
              <a:rPr lang="en-US" dirty="0" err="1"/>
              <a:t>oled</a:t>
            </a:r>
            <a:r>
              <a:rPr lang="en-US" dirty="0"/>
              <a:t> and ds3231</a:t>
            </a:r>
          </a:p>
          <a:p>
            <a:r>
              <a:rPr lang="en-US" dirty="0"/>
              <a:t>using the same i2c channel</a:t>
            </a:r>
          </a:p>
          <a:p>
            <a:endParaRPr lang="en-US" dirty="0"/>
          </a:p>
          <a:p>
            <a:r>
              <a:rPr lang="en-US" dirty="0"/>
              <a:t>ds3231 address = 0x68</a:t>
            </a:r>
          </a:p>
          <a:p>
            <a:r>
              <a:rPr lang="en-US" dirty="0"/>
              <a:t>We do not have to set date on the ds3231</a:t>
            </a:r>
          </a:p>
          <a:p>
            <a:r>
              <a:rPr lang="en-US" dirty="0"/>
              <a:t>Because we have set it earlier using</a:t>
            </a:r>
          </a:p>
          <a:p>
            <a:r>
              <a:rPr lang="en-US" dirty="0"/>
              <a:t>setting_ds3231.py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00455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AC0F42-E05A-B43E-C17C-1362DD4C1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631" y="681544"/>
            <a:ext cx="6124575" cy="50863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194B8D-99A3-0C06-4D3E-2A1D7A214796}"/>
              </a:ext>
            </a:extLst>
          </p:cNvPr>
          <p:cNvSpPr txBox="1"/>
          <p:nvPr/>
        </p:nvSpPr>
        <p:spPr>
          <a:xfrm>
            <a:off x="5145932" y="1556426"/>
            <a:ext cx="2603149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Set up for SD Card Reader</a:t>
            </a:r>
          </a:p>
          <a:p>
            <a:r>
              <a:rPr lang="en-US" dirty="0"/>
              <a:t>It uses SPI comms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6199C-1E80-B4F4-E059-F0748F63F375}"/>
              </a:ext>
            </a:extLst>
          </p:cNvPr>
          <p:cNvSpPr txBox="1"/>
          <p:nvPr/>
        </p:nvSpPr>
        <p:spPr>
          <a:xfrm>
            <a:off x="4990288" y="3224719"/>
            <a:ext cx="4046621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We want our program to create a csv file.</a:t>
            </a:r>
          </a:p>
          <a:p>
            <a:r>
              <a:rPr lang="en-US" dirty="0"/>
              <a:t>It has to be preceded with /</a:t>
            </a:r>
            <a:r>
              <a:rPr lang="en-US" dirty="0" err="1"/>
              <a:t>sd</a:t>
            </a:r>
            <a:r>
              <a:rPr lang="en-US" dirty="0"/>
              <a:t>/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734D4-D1BF-81AB-842A-22ED2D9B4D3E}"/>
              </a:ext>
            </a:extLst>
          </p:cNvPr>
          <p:cNvSpPr txBox="1"/>
          <p:nvPr/>
        </p:nvSpPr>
        <p:spPr>
          <a:xfrm>
            <a:off x="6750300" y="4422766"/>
            <a:ext cx="4956870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“x” means we want to file to be created exclusively</a:t>
            </a:r>
          </a:p>
          <a:p>
            <a:r>
              <a:rPr lang="en-US" dirty="0"/>
              <a:t>If it is present, do not over-write it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093133-566C-93AE-72D5-70D61A6FB3AE}"/>
              </a:ext>
            </a:extLst>
          </p:cNvPr>
          <p:cNvSpPr txBox="1"/>
          <p:nvPr/>
        </p:nvSpPr>
        <p:spPr>
          <a:xfrm>
            <a:off x="6750300" y="5397421"/>
            <a:ext cx="3353034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f.write</a:t>
            </a:r>
            <a:r>
              <a:rPr lang="en-US" dirty="0"/>
              <a:t>(“</a:t>
            </a:r>
            <a:r>
              <a:rPr lang="en-US" dirty="0" err="1"/>
              <a:t>Date,Time,Temperature</a:t>
            </a:r>
            <a:r>
              <a:rPr lang="en-US" dirty="0"/>
              <a:t>”)</a:t>
            </a:r>
          </a:p>
          <a:p>
            <a:r>
              <a:rPr lang="en-US" dirty="0"/>
              <a:t>Are column headers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3465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21B7DD-A049-38B7-D1BD-7A2310CE9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10" y="886433"/>
            <a:ext cx="6572250" cy="42291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44DC15-6FA7-186B-48D6-FFBB34547A95}"/>
              </a:ext>
            </a:extLst>
          </p:cNvPr>
          <p:cNvGrpSpPr/>
          <p:nvPr/>
        </p:nvGrpSpPr>
        <p:grpSpPr>
          <a:xfrm>
            <a:off x="4912468" y="1106826"/>
            <a:ext cx="6643992" cy="2079724"/>
            <a:chOff x="4912468" y="1106826"/>
            <a:chExt cx="6643992" cy="2079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43C2BBA-4EDB-CE3E-47C3-EA71FEC9C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41458" y="1106826"/>
              <a:ext cx="4915002" cy="207972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771978-DC3B-4418-A55E-54FAC8346C78}"/>
                </a:ext>
              </a:extLst>
            </p:cNvPr>
            <p:cNvSpPr/>
            <p:nvPr/>
          </p:nvSpPr>
          <p:spPr>
            <a:xfrm>
              <a:off x="4912468" y="1595337"/>
              <a:ext cx="1183531" cy="311285"/>
            </a:xfrm>
            <a:prstGeom prst="rect">
              <a:avLst/>
            </a:prstGeom>
            <a:noFill/>
            <a:ln w="317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C880F6B-39B0-E307-4DFB-419535B80DF6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9" y="1673157"/>
              <a:ext cx="79300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8E95A1C-BE8C-4E6C-1062-22C3C5616666}"/>
              </a:ext>
            </a:extLst>
          </p:cNvPr>
          <p:cNvGrpSpPr/>
          <p:nvPr/>
        </p:nvGrpSpPr>
        <p:grpSpPr>
          <a:xfrm>
            <a:off x="6918333" y="1106826"/>
            <a:ext cx="2313215" cy="1801744"/>
            <a:chOff x="6918333" y="1106826"/>
            <a:chExt cx="2313215" cy="180174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0F214E3-821E-EE25-76C7-50B1AA847B10}"/>
                </a:ext>
              </a:extLst>
            </p:cNvPr>
            <p:cNvSpPr/>
            <p:nvPr/>
          </p:nvSpPr>
          <p:spPr>
            <a:xfrm>
              <a:off x="7901777" y="1818867"/>
              <a:ext cx="1329771" cy="108970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40A4F9-4144-051C-DB45-234DECB34FEC}"/>
                </a:ext>
              </a:extLst>
            </p:cNvPr>
            <p:cNvSpPr/>
            <p:nvPr/>
          </p:nvSpPr>
          <p:spPr>
            <a:xfrm>
              <a:off x="6918333" y="1106826"/>
              <a:ext cx="1329771" cy="2077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7B09581-6FF2-C83B-DB91-8407242A1E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3983" y="1314555"/>
              <a:ext cx="437308" cy="504312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12C5CE4-F319-899E-457F-92A29C0AD2D6}"/>
              </a:ext>
            </a:extLst>
          </p:cNvPr>
          <p:cNvSpPr txBox="1"/>
          <p:nvPr/>
        </p:nvSpPr>
        <p:spPr>
          <a:xfrm>
            <a:off x="8654761" y="797373"/>
            <a:ext cx="249504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To human readable form</a:t>
            </a:r>
          </a:p>
        </p:txBody>
      </p:sp>
    </p:spTree>
    <p:extLst>
      <p:ext uri="{BB962C8B-B14F-4D97-AF65-F5344CB8AC3E}">
        <p14:creationId xmlns:p14="http://schemas.microsoft.com/office/powerpoint/2010/main" val="425034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559</Words>
  <Application>Microsoft Office PowerPoint</Application>
  <PresentationFormat>Widescreen</PresentationFormat>
  <Paragraphs>81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Soon Seng Goh</dc:creator>
  <cp:lastModifiedBy>Soon Seng Goh</cp:lastModifiedBy>
  <cp:revision>11</cp:revision>
  <dcterms:created xsi:type="dcterms:W3CDTF">2026-01-05T03:55:43Z</dcterms:created>
  <dcterms:modified xsi:type="dcterms:W3CDTF">2026-01-10T09:08:29Z</dcterms:modified>
</cp:coreProperties>
</file>
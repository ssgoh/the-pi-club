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8" r:id="rId2"/>
    <p:sldId id="269" r:id="rId3"/>
    <p:sldId id="275" r:id="rId4"/>
    <p:sldId id="270" r:id="rId5"/>
    <p:sldId id="257" r:id="rId6"/>
    <p:sldId id="258" r:id="rId7"/>
    <p:sldId id="259" r:id="rId8"/>
    <p:sldId id="260" r:id="rId9"/>
    <p:sldId id="261" r:id="rId10"/>
    <p:sldId id="271" r:id="rId11"/>
    <p:sldId id="276" r:id="rId12"/>
    <p:sldId id="272" r:id="rId13"/>
    <p:sldId id="262" r:id="rId14"/>
    <p:sldId id="263" r:id="rId15"/>
    <p:sldId id="264" r:id="rId16"/>
    <p:sldId id="265" r:id="rId17"/>
    <p:sldId id="266" r:id="rId18"/>
    <p:sldId id="277" r:id="rId19"/>
    <p:sldId id="278" r:id="rId20"/>
    <p:sldId id="279" r:id="rId21"/>
    <p:sldId id="280" r:id="rId22"/>
    <p:sldId id="281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17143-D0F8-44F4-87F6-5D8DDE20BB75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3045D-3AF0-4434-B0D8-CF2E2C14FEC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341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3045D-3AF0-4434-B0D8-CF2E2C14FECC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165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FD9F-8A9C-C96B-2A32-99E282A60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1DFD4-7295-60EF-9690-CFF2CDC12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B9E36-4C2F-9340-7D33-93A35A60D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834C4-AC50-D366-1063-0328AF58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9127D-93D9-B682-E683-76D44F9F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497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95F-879C-2774-07C0-D56A54E7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512AE-4E98-D9A4-36A3-419474AB2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9ABE4-8585-9F90-6B2C-24F65BD9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A0D2-2EE3-9286-8546-2E0B57D6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0096B-3E35-E471-62BD-7F03259D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536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BDC6-E81D-1F1E-DCBA-F3CB2773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ABB22-5F0D-1671-73AF-8C51FB68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C9667-A673-E8CE-A9E7-8AA78E0A7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7AEF9-1301-4E09-5F7C-5EA3A885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5E1A0-2D35-A577-A23F-ED635EB6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456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EAE8-93CD-9882-8B89-6A53B28F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4925D-CE29-ADFE-9DCE-CEABBBBB7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5797A-D256-D430-26CF-F038FB3B6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DB10E-80B5-CABF-F797-925F22490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3A413-C362-1D94-EB4C-35994D3B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C8BD6-D8FB-5624-A43E-416F2105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982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4FC1-A0B0-2BF4-0C3D-CC2FEC733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AC7D-9D6B-1660-6069-795ADAA49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94D82-78AD-40E4-AF1B-527F4B425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AAE84-9348-69E1-FB63-B2DBC6CF9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B9305-54B6-577E-6E15-746A3442F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8F419-D154-79B3-9EA5-4DA3BC5D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9F731-D03B-AC75-1E73-1997D744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6B678-4084-A60E-7784-9DBA9F2F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947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09C3-86AE-C8BF-49C9-88DA407D9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051AC-51AB-A294-8AEA-968DBF58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AEB01-002A-048C-49BF-F8F37016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1C932-9368-806C-19F1-0206FDF3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408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1C30C-D292-88FE-B0BB-522A8942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4DC15-DEC6-B076-AA0A-0F05AC66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9477-6297-BF19-E55A-7F3D06EF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02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44D3-F0AE-8647-3F5E-F6D409D56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45A07-1791-E50D-1AA0-EEF96D8F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07AAD-F773-5ACD-39E2-CD046C259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30710-6C54-A367-CC91-948F09C5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AA161-AB6E-7B02-62FA-1B80B976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33846-DBDC-9B9A-61A2-6787EB65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5087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0A11-0310-F8A3-C203-A6007D85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A04643-B342-9415-3AE0-09A5734EB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E3A4F-F900-6712-FF21-D894811F6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B1B96-ACC3-4201-BAAE-64372383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2C980-2BE4-FE1C-DF8D-AA1620A1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584BE-602A-B1D7-4DFE-ECFD89C3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054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C9DA-5A9C-ACDF-7E16-A986614E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2C32F-062B-D68B-1A5C-339D57BD2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BBEDF-24C0-4274-B02B-389193D6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9D1C9-9D2F-920C-A1AB-6C94767F5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A0E8E-712E-4509-D96D-2C6850B9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091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65EF0-FF4A-D9A5-442A-23668E3EF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4E8CC-72DB-D590-B924-9F3DF0FB5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D133-7BAE-2600-BDB9-38636F7D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B14B-FB8B-D78C-FDAA-DF4DAC1B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2B51-2054-1E3A-F41F-CF19557F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00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44899-5555-1A7D-13CE-91429428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2C421-66A6-B6C1-667A-A0C76391E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8EAC-C795-B9DF-07A2-C414D0C2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3F3B-4789-42A6-A01B-77B87529D6B3}" type="datetimeFigureOut">
              <a:rPr lang="en-SG" smtClean="0"/>
              <a:t>8/3/2026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3AED-0D41-0926-83A1-80F2EDEE8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83D5-3792-A273-53A3-7D244A171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73EAD-08E1-4A6A-9C6C-AA2EE576091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282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ccounts.adafruit.com/users/sign_in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51D7687-6A87-9B1F-0BCC-33DE3CA421DF}"/>
              </a:ext>
            </a:extLst>
          </p:cNvPr>
          <p:cNvSpPr/>
          <p:nvPr/>
        </p:nvSpPr>
        <p:spPr>
          <a:xfrm>
            <a:off x="3673060" y="1445026"/>
            <a:ext cx="4198775" cy="4075437"/>
          </a:xfrm>
          <a:prstGeom prst="ellipse">
            <a:avLst/>
          </a:prstGeom>
          <a:noFill/>
          <a:ln w="317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964541-B3C3-06AD-0A34-E2D98202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1025601"/>
            <a:ext cx="1887984" cy="1312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CD4D1-EA36-CC08-7EA4-E1166596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2562918"/>
            <a:ext cx="1887984" cy="1312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0ECB9F-0193-E67D-2657-A0A5CF9F2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4100235"/>
            <a:ext cx="1887984" cy="1312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2E64EF-6B70-0165-B12F-AAE95A641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494" y="2519071"/>
            <a:ext cx="3343363" cy="1819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FEF9E4-1C02-58C1-F911-ADFD9CB12051}"/>
              </a:ext>
            </a:extLst>
          </p:cNvPr>
          <p:cNvSpPr txBox="1"/>
          <p:nvPr/>
        </p:nvSpPr>
        <p:spPr>
          <a:xfrm>
            <a:off x="5404654" y="2845836"/>
            <a:ext cx="11821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LOCAL</a:t>
            </a:r>
          </a:p>
          <a:p>
            <a:r>
              <a:rPr lang="en-US" b="1" dirty="0">
                <a:solidFill>
                  <a:srgbClr val="FF0000"/>
                </a:solidFill>
              </a:rPr>
              <a:t>AREA</a:t>
            </a:r>
          </a:p>
          <a:p>
            <a:r>
              <a:rPr lang="en-US" b="1" dirty="0">
                <a:solidFill>
                  <a:srgbClr val="FF0000"/>
                </a:solidFill>
              </a:rPr>
              <a:t>NETWORK</a:t>
            </a:r>
            <a:endParaRPr lang="en-SG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09FE7F-00DA-E5B1-CAA9-1A6C465C0C17}"/>
              </a:ext>
            </a:extLst>
          </p:cNvPr>
          <p:cNvSpPr txBox="1"/>
          <p:nvPr/>
        </p:nvSpPr>
        <p:spPr>
          <a:xfrm>
            <a:off x="9314178" y="1614196"/>
            <a:ext cx="138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SERVER</a:t>
            </a:r>
          </a:p>
          <a:p>
            <a:r>
              <a:rPr lang="en-US" dirty="0"/>
              <a:t>192.168.0.1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03DAE-E517-9B0C-4FDB-B4FDE66967AD}"/>
              </a:ext>
            </a:extLst>
          </p:cNvPr>
          <p:cNvSpPr txBox="1"/>
          <p:nvPr/>
        </p:nvSpPr>
        <p:spPr>
          <a:xfrm>
            <a:off x="9314178" y="3059668"/>
            <a:ext cx="138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SERVER</a:t>
            </a:r>
          </a:p>
          <a:p>
            <a:r>
              <a:rPr lang="en-US" dirty="0"/>
              <a:t>192.168.0.2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B5376-D7EF-C394-7F3D-A2425BD204CC}"/>
              </a:ext>
            </a:extLst>
          </p:cNvPr>
          <p:cNvSpPr txBox="1"/>
          <p:nvPr/>
        </p:nvSpPr>
        <p:spPr>
          <a:xfrm>
            <a:off x="9314178" y="4689807"/>
            <a:ext cx="138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SERVER</a:t>
            </a:r>
          </a:p>
          <a:p>
            <a:r>
              <a:rPr lang="en-US" dirty="0"/>
              <a:t>192.168.0.3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10FED2-3A6D-7958-34D2-ECD5F387131A}"/>
              </a:ext>
            </a:extLst>
          </p:cNvPr>
          <p:cNvSpPr txBox="1"/>
          <p:nvPr/>
        </p:nvSpPr>
        <p:spPr>
          <a:xfrm>
            <a:off x="1055302" y="773648"/>
            <a:ext cx="3967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WEBSOCKET HTTP REQUEST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991AF-57BF-7572-C99D-6473E1105110}"/>
              </a:ext>
            </a:extLst>
          </p:cNvPr>
          <p:cNvSpPr txBox="1"/>
          <p:nvPr/>
        </p:nvSpPr>
        <p:spPr>
          <a:xfrm>
            <a:off x="1082057" y="4920298"/>
            <a:ext cx="4229428" cy="1477328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For the controller to turn on the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 individually to the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 http Request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turn on the LEDs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One to One Connectivity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43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DAE8-B70F-9246-658D-23719B69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B33A3-1BE7-8950-ABC7-EBE9EEC1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1025601"/>
            <a:ext cx="1887984" cy="1312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512FFF-8B9E-43BC-414D-1274EE32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2562918"/>
            <a:ext cx="1887984" cy="1312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302926-5232-CE6B-1133-2819D4E1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93" y="4100235"/>
            <a:ext cx="1887984" cy="1312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5598B5-4663-175A-6D0F-FC57E276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494" y="2519071"/>
            <a:ext cx="3343363" cy="1819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1A814-AF3C-FE12-3650-ADFA780AC452}"/>
              </a:ext>
            </a:extLst>
          </p:cNvPr>
          <p:cNvSpPr txBox="1"/>
          <p:nvPr/>
        </p:nvSpPr>
        <p:spPr>
          <a:xfrm>
            <a:off x="9314178" y="1614196"/>
            <a:ext cx="98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1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774B5-E58C-C67F-8306-A3284BA1CA2D}"/>
              </a:ext>
            </a:extLst>
          </p:cNvPr>
          <p:cNvSpPr txBox="1"/>
          <p:nvPr/>
        </p:nvSpPr>
        <p:spPr>
          <a:xfrm>
            <a:off x="9314178" y="3059668"/>
            <a:ext cx="98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2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69DE8-5452-BD19-A190-4DE372EFD5D7}"/>
              </a:ext>
            </a:extLst>
          </p:cNvPr>
          <p:cNvSpPr txBox="1"/>
          <p:nvPr/>
        </p:nvSpPr>
        <p:spPr>
          <a:xfrm>
            <a:off x="9314178" y="4689807"/>
            <a:ext cx="98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3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2E8315-A2FD-9A9E-46D5-5D50B0B4B353}"/>
              </a:ext>
            </a:extLst>
          </p:cNvPr>
          <p:cNvSpPr txBox="1"/>
          <p:nvPr/>
        </p:nvSpPr>
        <p:spPr>
          <a:xfrm>
            <a:off x="1055302" y="773648"/>
            <a:ext cx="3967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MQTT - </a:t>
            </a:r>
            <a:r>
              <a:rPr lang="en-SG" sz="2400" dirty="0"/>
              <a:t>Message Queuing Telemetry Transport</a:t>
            </a:r>
            <a:endParaRPr lang="en-SG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6CFB8-5D37-E58C-8A0F-C73567938777}"/>
              </a:ext>
            </a:extLst>
          </p:cNvPr>
          <p:cNvSpPr txBox="1"/>
          <p:nvPr/>
        </p:nvSpPr>
        <p:spPr>
          <a:xfrm>
            <a:off x="1082057" y="4920298"/>
            <a:ext cx="4312143" cy="1477328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For the controller to turn on the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 Message (Instruction to Broker)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Subscribers Receive the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 on the Message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Allows Many to Many Connectivity</a:t>
            </a:r>
            <a:endParaRPr lang="en-SG" b="1" dirty="0">
              <a:solidFill>
                <a:srgbClr val="FF000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00DE3F-5966-5E33-A310-130AE2C775B3}"/>
              </a:ext>
            </a:extLst>
          </p:cNvPr>
          <p:cNvGrpSpPr/>
          <p:nvPr/>
        </p:nvGrpSpPr>
        <p:grpSpPr>
          <a:xfrm>
            <a:off x="5182579" y="2961257"/>
            <a:ext cx="1826841" cy="914400"/>
            <a:chOff x="5138320" y="2620606"/>
            <a:chExt cx="1826841" cy="914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50ACBB-C350-9227-81D8-A1D5CEE17939}"/>
                </a:ext>
              </a:extLst>
            </p:cNvPr>
            <p:cNvSpPr/>
            <p:nvPr/>
          </p:nvSpPr>
          <p:spPr>
            <a:xfrm>
              <a:off x="5138320" y="2620606"/>
              <a:ext cx="152711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AA56DC-8461-15CF-3CBE-C9CE401B79BA}"/>
                </a:ext>
              </a:extLst>
            </p:cNvPr>
            <p:cNvSpPr txBox="1"/>
            <p:nvPr/>
          </p:nvSpPr>
          <p:spPr>
            <a:xfrm>
              <a:off x="5438052" y="2782669"/>
              <a:ext cx="1527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MQTT</a:t>
              </a:r>
            </a:p>
            <a:p>
              <a:r>
                <a:rPr lang="en-US" dirty="0">
                  <a:solidFill>
                    <a:srgbClr val="FFFF00"/>
                  </a:solidFill>
                </a:rPr>
                <a:t>BROKER</a:t>
              </a:r>
              <a:endParaRPr lang="en-SG" dirty="0">
                <a:solidFill>
                  <a:srgbClr val="FFFF00"/>
                </a:solidFill>
              </a:endParaRPr>
            </a:p>
          </p:txBody>
        </p:sp>
      </p:grp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4590508-4B5F-4D56-0BB1-632FF05DB4E4}"/>
              </a:ext>
            </a:extLst>
          </p:cNvPr>
          <p:cNvSpPr/>
          <p:nvPr/>
        </p:nvSpPr>
        <p:spPr>
          <a:xfrm>
            <a:off x="4115653" y="3527335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127101-FB12-963D-011D-F669E79E0B3B}"/>
              </a:ext>
            </a:extLst>
          </p:cNvPr>
          <p:cNvSpPr/>
          <p:nvPr/>
        </p:nvSpPr>
        <p:spPr>
          <a:xfrm rot="19723284">
            <a:off x="6265783" y="2054358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93AC55C-D7EB-9FF6-C74F-00D6CB36FCA0}"/>
              </a:ext>
            </a:extLst>
          </p:cNvPr>
          <p:cNvSpPr/>
          <p:nvPr/>
        </p:nvSpPr>
        <p:spPr>
          <a:xfrm>
            <a:off x="6470824" y="3154992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76C43F0-55AC-1D06-B462-17BBE03F9C1C}"/>
              </a:ext>
            </a:extLst>
          </p:cNvPr>
          <p:cNvSpPr/>
          <p:nvPr/>
        </p:nvSpPr>
        <p:spPr>
          <a:xfrm rot="1715878">
            <a:off x="6424304" y="4043129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6E03AE4-E852-4A0E-36A5-68233D0027B0}"/>
              </a:ext>
            </a:extLst>
          </p:cNvPr>
          <p:cNvGrpSpPr/>
          <p:nvPr/>
        </p:nvGrpSpPr>
        <p:grpSpPr>
          <a:xfrm>
            <a:off x="9152877" y="526593"/>
            <a:ext cx="1333338" cy="914400"/>
            <a:chOff x="9152877" y="526593"/>
            <a:chExt cx="1333338" cy="914400"/>
          </a:xfrm>
        </p:grpSpPr>
        <p:sp>
          <p:nvSpPr>
            <p:cNvPr id="21" name="Cloud 20">
              <a:extLst>
                <a:ext uri="{FF2B5EF4-FFF2-40B4-BE49-F238E27FC236}">
                  <a16:creationId xmlns:a16="http://schemas.microsoft.com/office/drawing/2014/main" id="{0C1AED35-800A-2786-4963-E84CE27EDB12}"/>
                </a:ext>
              </a:extLst>
            </p:cNvPr>
            <p:cNvSpPr/>
            <p:nvPr/>
          </p:nvSpPr>
          <p:spPr>
            <a:xfrm>
              <a:off x="9571815" y="526593"/>
              <a:ext cx="914400" cy="914400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725FE3-1DBF-CAE2-C85F-11B1CEA3B8A2}"/>
                </a:ext>
              </a:extLst>
            </p:cNvPr>
            <p:cNvSpPr txBox="1"/>
            <p:nvPr/>
          </p:nvSpPr>
          <p:spPr>
            <a:xfrm>
              <a:off x="9746726" y="706794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</a:t>
              </a:r>
              <a:endParaRPr lang="en-SG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1929DAC-BC98-34A6-CD74-9062720F7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2877" y="1189287"/>
              <a:ext cx="485192" cy="251706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FEA32D-0DE9-643F-7FB2-133C9EB6E42A}"/>
              </a:ext>
            </a:extLst>
          </p:cNvPr>
          <p:cNvGrpSpPr/>
          <p:nvPr/>
        </p:nvGrpSpPr>
        <p:grpSpPr>
          <a:xfrm>
            <a:off x="9187391" y="3308828"/>
            <a:ext cx="2331000" cy="914400"/>
            <a:chOff x="8155215" y="526593"/>
            <a:chExt cx="2331000" cy="914400"/>
          </a:xfrm>
        </p:grpSpPr>
        <p:sp>
          <p:nvSpPr>
            <p:cNvPr id="28" name="Cloud 27">
              <a:extLst>
                <a:ext uri="{FF2B5EF4-FFF2-40B4-BE49-F238E27FC236}">
                  <a16:creationId xmlns:a16="http://schemas.microsoft.com/office/drawing/2014/main" id="{21BF8C4C-0900-4505-CD87-248AD5415EA3}"/>
                </a:ext>
              </a:extLst>
            </p:cNvPr>
            <p:cNvSpPr/>
            <p:nvPr/>
          </p:nvSpPr>
          <p:spPr>
            <a:xfrm>
              <a:off x="9571815" y="526593"/>
              <a:ext cx="914400" cy="914400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B13403-6115-B286-04DE-347239E79468}"/>
                </a:ext>
              </a:extLst>
            </p:cNvPr>
            <p:cNvSpPr txBox="1"/>
            <p:nvPr/>
          </p:nvSpPr>
          <p:spPr>
            <a:xfrm>
              <a:off x="9746726" y="706794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</a:t>
              </a:r>
              <a:endParaRPr lang="en-SG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DE83195-1E19-3322-F625-DE20AB256426}"/>
                </a:ext>
              </a:extLst>
            </p:cNvPr>
            <p:cNvCxnSpPr>
              <a:cxnSpLocks/>
            </p:cNvCxnSpPr>
            <p:nvPr/>
          </p:nvCxnSpPr>
          <p:spPr>
            <a:xfrm>
              <a:off x="8155215" y="615073"/>
              <a:ext cx="1482854" cy="574214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8DA383-C48C-CD65-FD1A-ACDC7A317751}"/>
              </a:ext>
            </a:extLst>
          </p:cNvPr>
          <p:cNvCxnSpPr>
            <a:cxnSpLocks/>
          </p:cNvCxnSpPr>
          <p:nvPr/>
        </p:nvCxnSpPr>
        <p:spPr>
          <a:xfrm flipV="1">
            <a:off x="9152877" y="4150880"/>
            <a:ext cx="1571696" cy="396948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867749-0ED8-374A-B28C-7E8BFD031F1E}"/>
              </a:ext>
            </a:extLst>
          </p:cNvPr>
          <p:cNvGrpSpPr/>
          <p:nvPr/>
        </p:nvGrpSpPr>
        <p:grpSpPr>
          <a:xfrm>
            <a:off x="4194049" y="1635317"/>
            <a:ext cx="1333338" cy="914400"/>
            <a:chOff x="9152877" y="526593"/>
            <a:chExt cx="1333338" cy="914400"/>
          </a:xfrm>
        </p:grpSpPr>
        <p:sp>
          <p:nvSpPr>
            <p:cNvPr id="38" name="Cloud 37">
              <a:extLst>
                <a:ext uri="{FF2B5EF4-FFF2-40B4-BE49-F238E27FC236}">
                  <a16:creationId xmlns:a16="http://schemas.microsoft.com/office/drawing/2014/main" id="{0324FE24-7112-6881-F98B-CFAFF3180335}"/>
                </a:ext>
              </a:extLst>
            </p:cNvPr>
            <p:cNvSpPr/>
            <p:nvPr/>
          </p:nvSpPr>
          <p:spPr>
            <a:xfrm>
              <a:off x="9571815" y="526593"/>
              <a:ext cx="914400" cy="914400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4251CE-13A1-2555-7E84-056DBBF6E7EE}"/>
                </a:ext>
              </a:extLst>
            </p:cNvPr>
            <p:cNvSpPr txBox="1"/>
            <p:nvPr/>
          </p:nvSpPr>
          <p:spPr>
            <a:xfrm>
              <a:off x="9746726" y="706794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</a:t>
              </a:r>
              <a:endParaRPr lang="en-SG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4E7E823-17E9-E22A-C6E9-0AF5E0B560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2877" y="1189287"/>
              <a:ext cx="485192" cy="251706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620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C5013-890A-66A3-5613-8C2A88FAFB44}"/>
              </a:ext>
            </a:extLst>
          </p:cNvPr>
          <p:cNvSpPr txBox="1"/>
          <p:nvPr/>
        </p:nvSpPr>
        <p:spPr>
          <a:xfrm>
            <a:off x="4066285" y="603285"/>
            <a:ext cx="3553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HTTP PROTOCOL VS MQTT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D405F-F042-A1FE-D457-601783D9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436" y="1138793"/>
            <a:ext cx="5743575" cy="1752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A531B83-59E2-F0DE-ED9F-5D56A178A12A}"/>
              </a:ext>
            </a:extLst>
          </p:cNvPr>
          <p:cNvGrpSpPr/>
          <p:nvPr/>
        </p:nvGrpSpPr>
        <p:grpSpPr>
          <a:xfrm>
            <a:off x="3200399" y="2991474"/>
            <a:ext cx="3962400" cy="1950268"/>
            <a:chOff x="3218155" y="3690382"/>
            <a:chExt cx="3962400" cy="195026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8B34467-67A8-7CD6-BE95-825CFD19E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8155" y="4040450"/>
              <a:ext cx="3962400" cy="1600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C555F01-B0E2-A175-DD78-6986F3EEF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98285" y="3690382"/>
              <a:ext cx="2257425" cy="27622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E6D81B9-7FEB-67E2-79D3-D6E8E0D97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091" y="4941742"/>
            <a:ext cx="6438900" cy="6572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FBEC42-486E-B65F-3F0F-A820A22CD7DB}"/>
              </a:ext>
            </a:extLst>
          </p:cNvPr>
          <p:cNvSpPr txBox="1"/>
          <p:nvPr/>
        </p:nvSpPr>
        <p:spPr>
          <a:xfrm>
            <a:off x="3306830" y="5719207"/>
            <a:ext cx="346069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This post office is the MQTT Broker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6287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D0C8B9-C927-8AE8-6F1D-B7197AAC8684}"/>
              </a:ext>
            </a:extLst>
          </p:cNvPr>
          <p:cNvSpPr txBox="1"/>
          <p:nvPr/>
        </p:nvSpPr>
        <p:spPr>
          <a:xfrm>
            <a:off x="970382" y="317004"/>
            <a:ext cx="3590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Adafruit IO – MQTT Broker</a:t>
            </a:r>
            <a:endParaRPr lang="en-SG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E8AB9-30A2-8B21-ADED-89CA682A5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66" y="818129"/>
            <a:ext cx="6324600" cy="666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0DDDED-7905-7A1E-8AC0-0BB7855E8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66" y="1428070"/>
            <a:ext cx="4743450" cy="1162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C3D093-F576-26A0-9708-1CB63D924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210" y="2590120"/>
            <a:ext cx="3505200" cy="1323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EA0BFE-51F5-2CF9-3162-5B7E1308E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210" y="3914095"/>
            <a:ext cx="7448550" cy="971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8A8812-42B2-8412-099F-CE9F0EDAE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7210" y="4885645"/>
            <a:ext cx="42767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0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76595-49BA-4BEE-093E-5E4F312C3C3C}"/>
              </a:ext>
            </a:extLst>
          </p:cNvPr>
          <p:cNvSpPr txBox="1"/>
          <p:nvPr/>
        </p:nvSpPr>
        <p:spPr>
          <a:xfrm>
            <a:off x="1514413" y="1614885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https://accounts.adafruit.com/users/sign_in</a:t>
            </a:r>
            <a:endParaRPr lang="en-US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13699-D4EC-6A18-6950-724F05AA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13" y="2164265"/>
            <a:ext cx="4894735" cy="2678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A8B09E-A0A4-C50B-4F96-C27CF0F705D3}"/>
              </a:ext>
            </a:extLst>
          </p:cNvPr>
          <p:cNvSpPr txBox="1"/>
          <p:nvPr/>
        </p:nvSpPr>
        <p:spPr>
          <a:xfrm>
            <a:off x="1514413" y="578197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 use Adafruit MQTT Service</a:t>
            </a:r>
          </a:p>
          <a:p>
            <a:r>
              <a:rPr lang="en-US" sz="2400" b="1" dirty="0"/>
              <a:t>Create an Account</a:t>
            </a:r>
          </a:p>
        </p:txBody>
      </p:sp>
    </p:spTree>
    <p:extLst>
      <p:ext uri="{BB962C8B-B14F-4D97-AF65-F5344CB8AC3E}">
        <p14:creationId xmlns:p14="http://schemas.microsoft.com/office/powerpoint/2010/main" val="420576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19D04-62C7-F09F-EF5F-AFA1FB71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286389"/>
            <a:ext cx="8953500" cy="35433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9AF2AD6-9A2E-C160-624B-3077DC04A6F5}"/>
              </a:ext>
            </a:extLst>
          </p:cNvPr>
          <p:cNvGrpSpPr/>
          <p:nvPr/>
        </p:nvGrpSpPr>
        <p:grpSpPr>
          <a:xfrm>
            <a:off x="5867325" y="1960153"/>
            <a:ext cx="3200400" cy="1097886"/>
            <a:chOff x="5736696" y="1372325"/>
            <a:chExt cx="3200400" cy="10978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436A88-6942-5930-944D-54426557E78F}"/>
                </a:ext>
              </a:extLst>
            </p:cNvPr>
            <p:cNvSpPr/>
            <p:nvPr/>
          </p:nvSpPr>
          <p:spPr>
            <a:xfrm>
              <a:off x="5764688" y="1372325"/>
              <a:ext cx="1251932" cy="3631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A4C831-25DE-78F0-A7DF-87BF05B7AE8F}"/>
                </a:ext>
              </a:extLst>
            </p:cNvPr>
            <p:cNvSpPr txBox="1"/>
            <p:nvPr/>
          </p:nvSpPr>
          <p:spPr>
            <a:xfrm>
              <a:off x="5736696" y="2100879"/>
              <a:ext cx="32004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Dashboards to Create Key</a:t>
              </a:r>
              <a:endParaRPr lang="en-SG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B66C720-5C8A-2728-1242-1D49ADE1BBEE}"/>
              </a:ext>
            </a:extLst>
          </p:cNvPr>
          <p:cNvSpPr txBox="1"/>
          <p:nvPr/>
        </p:nvSpPr>
        <p:spPr>
          <a:xfrm>
            <a:off x="1707502" y="569167"/>
            <a:ext cx="5022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 need to create our unique API Key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0026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058C3-E101-FE96-73AD-04E86749C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2" y="1113165"/>
            <a:ext cx="10206474" cy="348682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2E2D55-BAA8-C583-8BD8-DB303023F3AF}"/>
              </a:ext>
            </a:extLst>
          </p:cNvPr>
          <p:cNvGrpSpPr/>
          <p:nvPr/>
        </p:nvGrpSpPr>
        <p:grpSpPr>
          <a:xfrm>
            <a:off x="6792686" y="1539551"/>
            <a:ext cx="3200400" cy="1068252"/>
            <a:chOff x="6792686" y="1539551"/>
            <a:chExt cx="3200400" cy="106825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826B9B-5F44-4106-F50D-56FBFCD7ADD9}"/>
                </a:ext>
              </a:extLst>
            </p:cNvPr>
            <p:cNvSpPr/>
            <p:nvPr/>
          </p:nvSpPr>
          <p:spPr>
            <a:xfrm>
              <a:off x="9096739" y="1539551"/>
              <a:ext cx="896347" cy="45720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A06A1F-B6A1-3405-8873-55F1FC057BFE}"/>
                </a:ext>
              </a:extLst>
            </p:cNvPr>
            <p:cNvSpPr txBox="1"/>
            <p:nvPr/>
          </p:nvSpPr>
          <p:spPr>
            <a:xfrm>
              <a:off x="6792686" y="2238471"/>
              <a:ext cx="32004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Click the Key Icon to Create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27992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B2257B-ABA7-FC4F-65C2-5D250271D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439" y="802432"/>
            <a:ext cx="4381361" cy="557334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CF8C33B-C5D1-E2D8-708C-5375CB63AE69}"/>
              </a:ext>
            </a:extLst>
          </p:cNvPr>
          <p:cNvGrpSpPr/>
          <p:nvPr/>
        </p:nvGrpSpPr>
        <p:grpSpPr>
          <a:xfrm>
            <a:off x="2020176" y="923731"/>
            <a:ext cx="6658749" cy="1973224"/>
            <a:chOff x="2020176" y="923731"/>
            <a:chExt cx="6658749" cy="19732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BD2409-FD50-D9E5-E0EE-46082B104335}"/>
                </a:ext>
              </a:extLst>
            </p:cNvPr>
            <p:cNvSpPr txBox="1"/>
            <p:nvPr/>
          </p:nvSpPr>
          <p:spPr>
            <a:xfrm>
              <a:off x="6671388" y="923731"/>
              <a:ext cx="2007537" cy="92333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Adafruit will assign </a:t>
              </a:r>
            </a:p>
            <a:p>
              <a:r>
                <a:rPr lang="en-US" dirty="0"/>
                <a:t>An Active Key</a:t>
              </a:r>
            </a:p>
            <a:p>
              <a:r>
                <a:rPr lang="en-SG" dirty="0"/>
                <a:t>For your user name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EF5BB2-479B-5969-B503-83A2B2FE3658}"/>
                </a:ext>
              </a:extLst>
            </p:cNvPr>
            <p:cNvSpPr/>
            <p:nvPr/>
          </p:nvSpPr>
          <p:spPr>
            <a:xfrm>
              <a:off x="2020176" y="2579714"/>
              <a:ext cx="3037015" cy="317241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238ADA-D3E2-FFCC-18CD-A00526760E99}"/>
              </a:ext>
            </a:extLst>
          </p:cNvPr>
          <p:cNvSpPr txBox="1"/>
          <p:nvPr/>
        </p:nvSpPr>
        <p:spPr>
          <a:xfrm>
            <a:off x="6603475" y="2197159"/>
            <a:ext cx="3568349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Copy and save the Username and</a:t>
            </a:r>
          </a:p>
          <a:p>
            <a:r>
              <a:rPr lang="en-US" dirty="0"/>
              <a:t>Active Key somewhere because we</a:t>
            </a:r>
          </a:p>
          <a:p>
            <a:r>
              <a:rPr lang="en-US" dirty="0"/>
              <a:t>Will need them in our program later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C0A437-CA3F-5F8D-DD0E-A3733839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475" y="3324809"/>
            <a:ext cx="542925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4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B704F-235A-C61F-B69E-01EF36B98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82" y="549436"/>
            <a:ext cx="10144636" cy="41998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A532610-9F95-7BB5-C9DE-EF720C76E88E}"/>
              </a:ext>
            </a:extLst>
          </p:cNvPr>
          <p:cNvGrpSpPr/>
          <p:nvPr/>
        </p:nvGrpSpPr>
        <p:grpSpPr>
          <a:xfrm>
            <a:off x="3582955" y="849086"/>
            <a:ext cx="3421046" cy="938499"/>
            <a:chOff x="3582955" y="849086"/>
            <a:chExt cx="3421046" cy="9384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E69DD04-AEA6-F4D9-20B0-C2C1137E4A61}"/>
                </a:ext>
              </a:extLst>
            </p:cNvPr>
            <p:cNvSpPr/>
            <p:nvPr/>
          </p:nvSpPr>
          <p:spPr>
            <a:xfrm>
              <a:off x="3582955" y="849086"/>
              <a:ext cx="914400" cy="345232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7393DA-12B0-ABF4-7DB4-910C2F2B67CB}"/>
                </a:ext>
              </a:extLst>
            </p:cNvPr>
            <p:cNvSpPr txBox="1"/>
            <p:nvPr/>
          </p:nvSpPr>
          <p:spPr>
            <a:xfrm>
              <a:off x="3956179" y="1418253"/>
              <a:ext cx="3047822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Next we will create the Feeds.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ECC375-221E-B09C-C285-CE6C14171B9B}"/>
              </a:ext>
            </a:extLst>
          </p:cNvPr>
          <p:cNvGrpSpPr/>
          <p:nvPr/>
        </p:nvGrpSpPr>
        <p:grpSpPr>
          <a:xfrm>
            <a:off x="3704253" y="2319727"/>
            <a:ext cx="4208106" cy="2752531"/>
            <a:chOff x="3125755" y="3359020"/>
            <a:chExt cx="4208106" cy="275253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075745-855D-6C21-0786-D05E8CE19C51}"/>
                </a:ext>
              </a:extLst>
            </p:cNvPr>
            <p:cNvSpPr/>
            <p:nvPr/>
          </p:nvSpPr>
          <p:spPr>
            <a:xfrm>
              <a:off x="3125755" y="3359020"/>
              <a:ext cx="4208106" cy="275253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8DC79DA-8C36-5BD9-A9BE-4F33019DA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7568" y="3515793"/>
              <a:ext cx="3876675" cy="2466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797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FB80E4-7F2A-7D5B-DE78-C167DB5B5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70" y="829355"/>
            <a:ext cx="8210550" cy="5591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98C473-CA6E-407C-C396-7F564D7F4781}"/>
              </a:ext>
            </a:extLst>
          </p:cNvPr>
          <p:cNvSpPr txBox="1"/>
          <p:nvPr/>
        </p:nvSpPr>
        <p:spPr>
          <a:xfrm>
            <a:off x="531289" y="602118"/>
            <a:ext cx="3781121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Adafruit IO – MQTT BROKER</a:t>
            </a:r>
            <a:endParaRPr lang="en-SG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41C19-0027-5CCA-1C75-83B90F230AA0}"/>
              </a:ext>
            </a:extLst>
          </p:cNvPr>
          <p:cNvGrpSpPr/>
          <p:nvPr/>
        </p:nvGrpSpPr>
        <p:grpSpPr>
          <a:xfrm>
            <a:off x="4677744" y="296155"/>
            <a:ext cx="3333242" cy="2652318"/>
            <a:chOff x="5358880" y="296155"/>
            <a:chExt cx="3333242" cy="265231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380FBC-BA3F-F03B-1787-18DFAE0DCC6C}"/>
                </a:ext>
              </a:extLst>
            </p:cNvPr>
            <p:cNvSpPr/>
            <p:nvPr/>
          </p:nvSpPr>
          <p:spPr>
            <a:xfrm>
              <a:off x="5358880" y="1968759"/>
              <a:ext cx="1891005" cy="979714"/>
            </a:xfrm>
            <a:prstGeom prst="rect">
              <a:avLst/>
            </a:prstGeom>
            <a:noFill/>
            <a:ln w="476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7AE7D1-CAA1-A653-EC24-90D06567E38F}"/>
                </a:ext>
              </a:extLst>
            </p:cNvPr>
            <p:cNvSpPr txBox="1"/>
            <p:nvPr/>
          </p:nvSpPr>
          <p:spPr>
            <a:xfrm>
              <a:off x="5772733" y="296155"/>
              <a:ext cx="2919389" cy="461665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Username : </a:t>
              </a:r>
              <a:r>
                <a:rPr lang="en-US" sz="2400" dirty="0" err="1"/>
                <a:t>soonseng</a:t>
              </a:r>
              <a:endParaRPr lang="en-SG" sz="24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1963B4-4708-0E6E-6639-2285CE2050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4065" y="757820"/>
              <a:ext cx="417538" cy="1210939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CDFCD7B-2A8F-1A1E-2904-5134F4367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27" y="981754"/>
            <a:ext cx="5419725" cy="52863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F8627D-2AA1-A340-537C-D8A5BA202985}"/>
              </a:ext>
            </a:extLst>
          </p:cNvPr>
          <p:cNvSpPr/>
          <p:nvPr/>
        </p:nvSpPr>
        <p:spPr>
          <a:xfrm>
            <a:off x="8630815" y="4973216"/>
            <a:ext cx="914400" cy="5318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0000"/>
                </a:solidFill>
              </a:rPr>
              <a:t>Temp</a:t>
            </a:r>
            <a:endParaRPr lang="en-SG" sz="1500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D100DE-836E-C86A-689E-101013EB3F50}"/>
              </a:ext>
            </a:extLst>
          </p:cNvPr>
          <p:cNvSpPr/>
          <p:nvPr/>
        </p:nvSpPr>
        <p:spPr>
          <a:xfrm>
            <a:off x="9744766" y="4973215"/>
            <a:ext cx="914400" cy="5318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FF0000"/>
                </a:solidFill>
              </a:rPr>
              <a:t>Pico1</a:t>
            </a:r>
            <a:endParaRPr lang="en-SG" sz="1500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59E373-E2A3-C1DA-0901-80B7CB9A5099}"/>
              </a:ext>
            </a:extLst>
          </p:cNvPr>
          <p:cNvSpPr txBox="1"/>
          <p:nvPr/>
        </p:nvSpPr>
        <p:spPr>
          <a:xfrm>
            <a:off x="8756413" y="4210148"/>
            <a:ext cx="418704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28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D55A1A-306E-25A7-998E-F3ADD5EA4153}"/>
              </a:ext>
            </a:extLst>
          </p:cNvPr>
          <p:cNvSpPr txBox="1"/>
          <p:nvPr/>
        </p:nvSpPr>
        <p:spPr>
          <a:xfrm>
            <a:off x="10000495" y="4210148"/>
            <a:ext cx="48603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ON</a:t>
            </a:r>
            <a:endParaRPr lang="en-SG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43B8BE-BB21-AA96-BA56-4FC8E4221025}"/>
              </a:ext>
            </a:extLst>
          </p:cNvPr>
          <p:cNvGrpSpPr/>
          <p:nvPr/>
        </p:nvGrpSpPr>
        <p:grpSpPr>
          <a:xfrm>
            <a:off x="9208104" y="5461517"/>
            <a:ext cx="983604" cy="936460"/>
            <a:chOff x="9889240" y="5461517"/>
            <a:chExt cx="983604" cy="93646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0A19290-5C4F-6463-C608-B010FF23D6ED}"/>
                </a:ext>
              </a:extLst>
            </p:cNvPr>
            <p:cNvSpPr txBox="1"/>
            <p:nvPr/>
          </p:nvSpPr>
          <p:spPr>
            <a:xfrm>
              <a:off x="10037482" y="6028645"/>
              <a:ext cx="729495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Feeds</a:t>
              </a:r>
              <a:endParaRPr lang="en-SG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AF1C4B4-6A85-8082-4919-CF9480F104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6658" y="5461517"/>
              <a:ext cx="256186" cy="599249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07F0F0B-ADD0-B3D4-AFDA-CD6C06CC9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240" y="5461517"/>
              <a:ext cx="329585" cy="567128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B92A45D-5035-9670-C1FF-8AAE752BAD3B}"/>
              </a:ext>
            </a:extLst>
          </p:cNvPr>
          <p:cNvGrpSpPr/>
          <p:nvPr/>
        </p:nvGrpSpPr>
        <p:grpSpPr>
          <a:xfrm>
            <a:off x="9165133" y="3643948"/>
            <a:ext cx="1099660" cy="688417"/>
            <a:chOff x="9846269" y="3643948"/>
            <a:chExt cx="1099660" cy="6884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B9B7A9-D5A9-E9C9-7B9F-57574291F90F}"/>
                </a:ext>
              </a:extLst>
            </p:cNvPr>
            <p:cNvSpPr txBox="1"/>
            <p:nvPr/>
          </p:nvSpPr>
          <p:spPr>
            <a:xfrm>
              <a:off x="9846269" y="3643948"/>
              <a:ext cx="1099660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Messages</a:t>
              </a:r>
              <a:endParaRPr lang="en-SG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7C79B3D-E3B7-DB44-57B8-F27297F054FC}"/>
                </a:ext>
              </a:extLst>
            </p:cNvPr>
            <p:cNvCxnSpPr>
              <a:cxnSpLocks/>
            </p:cNvCxnSpPr>
            <p:nvPr/>
          </p:nvCxnSpPr>
          <p:spPr>
            <a:xfrm>
              <a:off x="10589400" y="3981547"/>
              <a:ext cx="283444" cy="350818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ABEC4E7-0F5A-E7C2-E458-B627547D7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9360" y="3933679"/>
              <a:ext cx="282207" cy="398686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076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6857173-E441-6B58-967F-A8E6465037CA}"/>
              </a:ext>
            </a:extLst>
          </p:cNvPr>
          <p:cNvGrpSpPr/>
          <p:nvPr/>
        </p:nvGrpSpPr>
        <p:grpSpPr>
          <a:xfrm>
            <a:off x="2544348" y="2957804"/>
            <a:ext cx="6606218" cy="369332"/>
            <a:chOff x="1835220" y="2136710"/>
            <a:chExt cx="6606218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F4AA91F-968E-B4AF-31CB-29FEC5A5D86D}"/>
                </a:ext>
              </a:extLst>
            </p:cNvPr>
            <p:cNvSpPr txBox="1"/>
            <p:nvPr/>
          </p:nvSpPr>
          <p:spPr>
            <a:xfrm>
              <a:off x="1835220" y="2136710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PUBLISHER </a:t>
              </a:r>
              <a:endParaRPr lang="en-SG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87EBF35-7902-F962-764C-AF015AD45C3C}"/>
                </a:ext>
              </a:extLst>
            </p:cNvPr>
            <p:cNvSpPr txBox="1"/>
            <p:nvPr/>
          </p:nvSpPr>
          <p:spPr>
            <a:xfrm>
              <a:off x="3318787" y="2136710"/>
              <a:ext cx="1091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</a:t>
              </a:r>
              <a:endParaRPr lang="en-SG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F25001-DCE1-F7D8-919F-FA06F398FB59}"/>
                </a:ext>
              </a:extLst>
            </p:cNvPr>
            <p:cNvSpPr txBox="1"/>
            <p:nvPr/>
          </p:nvSpPr>
          <p:spPr>
            <a:xfrm>
              <a:off x="4730820" y="2136710"/>
              <a:ext cx="6575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FEED</a:t>
              </a:r>
              <a:endParaRPr lang="en-SG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24EB29-56B5-71DB-DB3B-2BC7CCCB7532}"/>
                </a:ext>
              </a:extLst>
            </p:cNvPr>
            <p:cNvSpPr txBox="1"/>
            <p:nvPr/>
          </p:nvSpPr>
          <p:spPr>
            <a:xfrm>
              <a:off x="5709209" y="2136710"/>
              <a:ext cx="1091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</a:t>
              </a:r>
              <a:endParaRPr lang="en-SG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52611F-90EC-DB60-ED02-C4D649F41918}"/>
                </a:ext>
              </a:extLst>
            </p:cNvPr>
            <p:cNvSpPr txBox="1"/>
            <p:nvPr/>
          </p:nvSpPr>
          <p:spPr>
            <a:xfrm>
              <a:off x="7051314" y="2136710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SUBSCRIBER </a:t>
              </a:r>
              <a:endParaRPr lang="en-SG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25D2B75-0469-8B43-5D33-B16485956E84}"/>
                </a:ext>
              </a:extLst>
            </p:cNvPr>
            <p:cNvCxnSpPr>
              <a:cxnSpLocks/>
            </p:cNvCxnSpPr>
            <p:nvPr/>
          </p:nvCxnSpPr>
          <p:spPr>
            <a:xfrm>
              <a:off x="3013416" y="2331870"/>
              <a:ext cx="386436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7A2C35D-A28D-723B-DDEF-5F6004001EE5}"/>
                </a:ext>
              </a:extLst>
            </p:cNvPr>
            <p:cNvCxnSpPr>
              <a:cxnSpLocks/>
            </p:cNvCxnSpPr>
            <p:nvPr/>
          </p:nvCxnSpPr>
          <p:spPr>
            <a:xfrm>
              <a:off x="4409983" y="2321376"/>
              <a:ext cx="386436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81772F2-B497-76A1-9AD6-B683AF2FCE9F}"/>
                </a:ext>
              </a:extLst>
            </p:cNvPr>
            <p:cNvCxnSpPr>
              <a:cxnSpLocks/>
            </p:cNvCxnSpPr>
            <p:nvPr/>
          </p:nvCxnSpPr>
          <p:spPr>
            <a:xfrm>
              <a:off x="5388372" y="2331870"/>
              <a:ext cx="386436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A2E624D-3AA3-1EBA-00ED-32D04A009BC6}"/>
                </a:ext>
              </a:extLst>
            </p:cNvPr>
            <p:cNvCxnSpPr>
              <a:cxnSpLocks/>
            </p:cNvCxnSpPr>
            <p:nvPr/>
          </p:nvCxnSpPr>
          <p:spPr>
            <a:xfrm>
              <a:off x="6720779" y="2331870"/>
              <a:ext cx="386436" cy="0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7719F7-D759-971A-489C-19556E2A2231}"/>
              </a:ext>
            </a:extLst>
          </p:cNvPr>
          <p:cNvGrpSpPr/>
          <p:nvPr/>
        </p:nvGrpSpPr>
        <p:grpSpPr>
          <a:xfrm>
            <a:off x="2558480" y="2695764"/>
            <a:ext cx="6482885" cy="914400"/>
            <a:chOff x="1849352" y="1874670"/>
            <a:chExt cx="6482885" cy="9144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E57BAB-505B-1C52-84CC-15E36A8DEDF5}"/>
                </a:ext>
              </a:extLst>
            </p:cNvPr>
            <p:cNvSpPr/>
            <p:nvPr/>
          </p:nvSpPr>
          <p:spPr>
            <a:xfrm>
              <a:off x="4610335" y="1874670"/>
              <a:ext cx="914400" cy="9144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1131166-73A7-296B-9A86-4557E4986F9B}"/>
                </a:ext>
              </a:extLst>
            </p:cNvPr>
            <p:cNvSpPr/>
            <p:nvPr/>
          </p:nvSpPr>
          <p:spPr>
            <a:xfrm>
              <a:off x="1849352" y="2136710"/>
              <a:ext cx="1164063" cy="369328"/>
            </a:xfrm>
            <a:prstGeom prst="roundRect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A6EFF-9158-184C-474B-C2CDE32D7C22}"/>
                </a:ext>
              </a:extLst>
            </p:cNvPr>
            <p:cNvSpPr/>
            <p:nvPr/>
          </p:nvSpPr>
          <p:spPr>
            <a:xfrm>
              <a:off x="7107215" y="2147206"/>
              <a:ext cx="1225022" cy="369328"/>
            </a:xfrm>
            <a:prstGeom prst="roundRect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82AD2C-65CF-8458-4313-A04F36F9CA72}"/>
              </a:ext>
            </a:extLst>
          </p:cNvPr>
          <p:cNvGrpSpPr/>
          <p:nvPr/>
        </p:nvGrpSpPr>
        <p:grpSpPr>
          <a:xfrm>
            <a:off x="4273221" y="2511098"/>
            <a:ext cx="493884" cy="369332"/>
            <a:chOff x="6008914" y="4404049"/>
            <a:chExt cx="493884" cy="36933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C2DA45-C353-00DE-B7BC-199CB1F40DC1}"/>
                </a:ext>
              </a:extLst>
            </p:cNvPr>
            <p:cNvSpPr/>
            <p:nvPr/>
          </p:nvSpPr>
          <p:spPr>
            <a:xfrm>
              <a:off x="6008914" y="4404049"/>
              <a:ext cx="493884" cy="36932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562836-944D-C0F9-DCA7-27128A46A78A}"/>
                </a:ext>
              </a:extLst>
            </p:cNvPr>
            <p:cNvSpPr txBox="1"/>
            <p:nvPr/>
          </p:nvSpPr>
          <p:spPr>
            <a:xfrm>
              <a:off x="6016768" y="4404049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</a:t>
              </a:r>
              <a:endParaRPr lang="en-SG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4873CC-47D8-2E49-4ABA-1E4B0C91CEBE}"/>
              </a:ext>
            </a:extLst>
          </p:cNvPr>
          <p:cNvGrpSpPr/>
          <p:nvPr/>
        </p:nvGrpSpPr>
        <p:grpSpPr>
          <a:xfrm>
            <a:off x="6716993" y="2511098"/>
            <a:ext cx="493884" cy="369332"/>
            <a:chOff x="6008914" y="4404049"/>
            <a:chExt cx="493884" cy="36933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5B8D8B1-F233-71B9-A06D-5336719DBED0}"/>
                </a:ext>
              </a:extLst>
            </p:cNvPr>
            <p:cNvSpPr/>
            <p:nvPr/>
          </p:nvSpPr>
          <p:spPr>
            <a:xfrm>
              <a:off x="6008914" y="4404049"/>
              <a:ext cx="493884" cy="36932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F22CAE-1A25-2916-0A55-ADB75A6FECB6}"/>
                </a:ext>
              </a:extLst>
            </p:cNvPr>
            <p:cNvSpPr txBox="1"/>
            <p:nvPr/>
          </p:nvSpPr>
          <p:spPr>
            <a:xfrm>
              <a:off x="6016768" y="4404049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</a:t>
              </a:r>
              <a:endParaRPr lang="en-SG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48293A-CC2C-46CE-45C0-9BC20B0AAE46}"/>
              </a:ext>
            </a:extLst>
          </p:cNvPr>
          <p:cNvGrpSpPr/>
          <p:nvPr/>
        </p:nvGrpSpPr>
        <p:grpSpPr>
          <a:xfrm>
            <a:off x="4487090" y="4052977"/>
            <a:ext cx="2715470" cy="379826"/>
            <a:chOff x="3722542" y="4343009"/>
            <a:chExt cx="2715470" cy="37982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A1CAAE6-E073-30FC-5C15-58D4A7491D2C}"/>
                </a:ext>
              </a:extLst>
            </p:cNvPr>
            <p:cNvSpPr/>
            <p:nvPr/>
          </p:nvSpPr>
          <p:spPr>
            <a:xfrm>
              <a:off x="3722542" y="4343009"/>
              <a:ext cx="2687940" cy="36932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0B7317B-FEB4-C179-0E9B-8F8146D140BA}"/>
                </a:ext>
              </a:extLst>
            </p:cNvPr>
            <p:cNvSpPr txBox="1"/>
            <p:nvPr/>
          </p:nvSpPr>
          <p:spPr>
            <a:xfrm>
              <a:off x="3750072" y="4353503"/>
              <a:ext cx="26879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Username + feed = Topic</a:t>
              </a:r>
              <a:endParaRPr lang="en-SG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92D5357-B382-1CCC-86CC-7932FCED6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13" y="4682995"/>
            <a:ext cx="5448300" cy="5524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DD7DBD5-F36F-7A33-28A3-76C153047101}"/>
              </a:ext>
            </a:extLst>
          </p:cNvPr>
          <p:cNvSpPr txBox="1"/>
          <p:nvPr/>
        </p:nvSpPr>
        <p:spPr>
          <a:xfrm>
            <a:off x="4487090" y="1053586"/>
            <a:ext cx="246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MQTT works</a:t>
            </a:r>
            <a:endParaRPr lang="en-SG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E4282A-0EE9-0EDC-763C-8C5DE0B6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99" y="3665743"/>
            <a:ext cx="2667000" cy="2114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E96550-F40E-D031-80EE-0D6005E67F02}"/>
              </a:ext>
            </a:extLst>
          </p:cNvPr>
          <p:cNvSpPr/>
          <p:nvPr/>
        </p:nvSpPr>
        <p:spPr>
          <a:xfrm>
            <a:off x="1822264" y="3965105"/>
            <a:ext cx="1163532" cy="150263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265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FC613-0E3A-7244-9FD7-01192006510C}"/>
              </a:ext>
            </a:extLst>
          </p:cNvPr>
          <p:cNvSpPr txBox="1"/>
          <p:nvPr/>
        </p:nvSpPr>
        <p:spPr>
          <a:xfrm>
            <a:off x="4273420" y="2864498"/>
            <a:ext cx="3948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Creating a Feed in Adafruit IO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86396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0A98FF-118C-5747-3E44-F79DA13C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84" y="957263"/>
            <a:ext cx="3800475" cy="220027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D54E778-510E-078C-004A-BACA427F3062}"/>
              </a:ext>
            </a:extLst>
          </p:cNvPr>
          <p:cNvGrpSpPr/>
          <p:nvPr/>
        </p:nvGrpSpPr>
        <p:grpSpPr>
          <a:xfrm>
            <a:off x="1169338" y="1390261"/>
            <a:ext cx="6602166" cy="1576873"/>
            <a:chOff x="1169338" y="1390261"/>
            <a:chExt cx="6602166" cy="15768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95C04A-0427-5DBC-43A3-299625E0C0A5}"/>
                </a:ext>
              </a:extLst>
            </p:cNvPr>
            <p:cNvSpPr txBox="1"/>
            <p:nvPr/>
          </p:nvSpPr>
          <p:spPr>
            <a:xfrm>
              <a:off x="4375959" y="2007925"/>
              <a:ext cx="339554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Click on Feeds and then New Feed</a:t>
              </a:r>
              <a:endParaRPr lang="en-SG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25CB3A1-3940-030E-C97C-BC07E7D2A3A0}"/>
                </a:ext>
              </a:extLst>
            </p:cNvPr>
            <p:cNvSpPr/>
            <p:nvPr/>
          </p:nvSpPr>
          <p:spPr>
            <a:xfrm>
              <a:off x="3918759" y="1390261"/>
              <a:ext cx="914400" cy="369332"/>
            </a:xfrm>
            <a:prstGeom prst="rect">
              <a:avLst/>
            </a:prstGeom>
            <a:noFill/>
            <a:ln w="476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910EB9-A1F5-9FED-4375-854A539DED51}"/>
                </a:ext>
              </a:extLst>
            </p:cNvPr>
            <p:cNvSpPr/>
            <p:nvPr/>
          </p:nvSpPr>
          <p:spPr>
            <a:xfrm>
              <a:off x="1169338" y="2531705"/>
              <a:ext cx="1312604" cy="435429"/>
            </a:xfrm>
            <a:prstGeom prst="rect">
              <a:avLst/>
            </a:prstGeom>
            <a:noFill/>
            <a:ln w="476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775961E-83B3-1C4F-8195-3981169A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84" y="3157538"/>
            <a:ext cx="4248248" cy="2870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9A0EBF7-B2BD-B914-F12F-583A7FF35B6A}"/>
              </a:ext>
            </a:extLst>
          </p:cNvPr>
          <p:cNvSpPr txBox="1"/>
          <p:nvPr/>
        </p:nvSpPr>
        <p:spPr>
          <a:xfrm>
            <a:off x="1134745" y="3858208"/>
            <a:ext cx="69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Pico1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0D3659-C739-4663-2075-CAD1D41D65C9}"/>
              </a:ext>
            </a:extLst>
          </p:cNvPr>
          <p:cNvSpPr/>
          <p:nvPr/>
        </p:nvSpPr>
        <p:spPr>
          <a:xfrm>
            <a:off x="4413087" y="5566128"/>
            <a:ext cx="867845" cy="46204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F577F0-6D25-FA12-A8C9-4971F8F20445}"/>
              </a:ext>
            </a:extLst>
          </p:cNvPr>
          <p:cNvGrpSpPr/>
          <p:nvPr/>
        </p:nvGrpSpPr>
        <p:grpSpPr>
          <a:xfrm>
            <a:off x="1032684" y="957263"/>
            <a:ext cx="8860368" cy="5255115"/>
            <a:chOff x="1032684" y="957263"/>
            <a:chExt cx="8860368" cy="525511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7AE1AB4-B817-ABBA-2983-CDD33AAA87E6}"/>
                </a:ext>
              </a:extLst>
            </p:cNvPr>
            <p:cNvGrpSpPr/>
            <p:nvPr/>
          </p:nvGrpSpPr>
          <p:grpSpPr>
            <a:xfrm>
              <a:off x="1032684" y="957263"/>
              <a:ext cx="8860368" cy="5255115"/>
              <a:chOff x="1032684" y="957263"/>
              <a:chExt cx="8860368" cy="5255115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90E6557-6484-CA92-4AAD-42DA4F678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684" y="957263"/>
                <a:ext cx="8860368" cy="5255115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E5E5E30-B922-F058-845B-197D46C7D7A9}"/>
                  </a:ext>
                </a:extLst>
              </p:cNvPr>
              <p:cNvSpPr/>
              <p:nvPr/>
            </p:nvSpPr>
            <p:spPr>
              <a:xfrm>
                <a:off x="1480193" y="5682343"/>
                <a:ext cx="1318992" cy="345828"/>
              </a:xfrm>
              <a:prstGeom prst="rect">
                <a:avLst/>
              </a:prstGeom>
              <a:noFill/>
              <a:ln w="476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16BEE4-8182-5EB7-64E1-448B11E82F66}"/>
                </a:ext>
              </a:extLst>
            </p:cNvPr>
            <p:cNvSpPr txBox="1"/>
            <p:nvPr/>
          </p:nvSpPr>
          <p:spPr>
            <a:xfrm>
              <a:off x="3996328" y="3775202"/>
              <a:ext cx="3590663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You will see the feed appearing here</a:t>
              </a:r>
              <a:endParaRPr lang="en-SG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C1014A-AF60-7D7B-341D-835B7DD7B4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1902" y="4144534"/>
              <a:ext cx="1754057" cy="151854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976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5DF35A-2858-CC93-E8E6-2C28FE48C12D}"/>
              </a:ext>
            </a:extLst>
          </p:cNvPr>
          <p:cNvSpPr txBox="1"/>
          <p:nvPr/>
        </p:nvSpPr>
        <p:spPr>
          <a:xfrm>
            <a:off x="1307237" y="64539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Create a Line Chart to display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8877D-74B9-ACAF-12DA-D346ABD39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38" y="1198763"/>
            <a:ext cx="7915275" cy="3714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FAC3C09-A009-D1AB-7861-B6E43D449C2C}"/>
              </a:ext>
            </a:extLst>
          </p:cNvPr>
          <p:cNvSpPr/>
          <p:nvPr/>
        </p:nvSpPr>
        <p:spPr>
          <a:xfrm>
            <a:off x="5439383" y="1489178"/>
            <a:ext cx="1092045" cy="34895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FA8FC2-CA38-B1F0-FBF7-C911BE7E9FB5}"/>
              </a:ext>
            </a:extLst>
          </p:cNvPr>
          <p:cNvSpPr/>
          <p:nvPr/>
        </p:nvSpPr>
        <p:spPr>
          <a:xfrm>
            <a:off x="1495644" y="2621292"/>
            <a:ext cx="2003336" cy="55111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F0BF25-14D3-2F6B-3198-C424388F6A27}"/>
              </a:ext>
            </a:extLst>
          </p:cNvPr>
          <p:cNvGrpSpPr/>
          <p:nvPr/>
        </p:nvGrpSpPr>
        <p:grpSpPr>
          <a:xfrm>
            <a:off x="3859762" y="2128545"/>
            <a:ext cx="6939600" cy="4280588"/>
            <a:chOff x="3859762" y="2128545"/>
            <a:chExt cx="6939600" cy="42805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C704B5-B54F-5C17-120D-B6EBB4558D87}"/>
                </a:ext>
              </a:extLst>
            </p:cNvPr>
            <p:cNvSpPr/>
            <p:nvPr/>
          </p:nvSpPr>
          <p:spPr>
            <a:xfrm>
              <a:off x="3859762" y="2128545"/>
              <a:ext cx="6939600" cy="428058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8F9B4B-10E4-84E7-991A-92DA207D6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4924" y="2419350"/>
              <a:ext cx="5629275" cy="352425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3288E2A-02D6-5787-AFA4-646B7541A58A}"/>
              </a:ext>
            </a:extLst>
          </p:cNvPr>
          <p:cNvSpPr/>
          <p:nvPr/>
        </p:nvSpPr>
        <p:spPr>
          <a:xfrm>
            <a:off x="9043364" y="5292180"/>
            <a:ext cx="1100835" cy="55111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136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9ACA69-840E-C61D-9C90-06BAF01C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18" y="689007"/>
            <a:ext cx="8629650" cy="3800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162F00-263E-3B32-8C30-7A25A3D5F1FA}"/>
              </a:ext>
            </a:extLst>
          </p:cNvPr>
          <p:cNvSpPr/>
          <p:nvPr/>
        </p:nvSpPr>
        <p:spPr>
          <a:xfrm>
            <a:off x="1298956" y="3789951"/>
            <a:ext cx="2069395" cy="55111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226D27-B637-4E5F-2AE8-DC692122178B}"/>
              </a:ext>
            </a:extLst>
          </p:cNvPr>
          <p:cNvGrpSpPr/>
          <p:nvPr/>
        </p:nvGrpSpPr>
        <p:grpSpPr>
          <a:xfrm>
            <a:off x="1147277" y="2132043"/>
            <a:ext cx="10968329" cy="4380723"/>
            <a:chOff x="1147277" y="2132043"/>
            <a:chExt cx="10968329" cy="43807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F5BB07-A54A-6458-BCAF-8960B3C4FE22}"/>
                </a:ext>
              </a:extLst>
            </p:cNvPr>
            <p:cNvSpPr/>
            <p:nvPr/>
          </p:nvSpPr>
          <p:spPr>
            <a:xfrm>
              <a:off x="1147277" y="2132043"/>
              <a:ext cx="10968329" cy="438072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115355-F46F-1EB8-BA62-2B10B5877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5946" y="2646004"/>
              <a:ext cx="10191750" cy="335280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2B58F-E833-9029-5EBC-93397DE2BE46}"/>
              </a:ext>
            </a:extLst>
          </p:cNvPr>
          <p:cNvSpPr/>
          <p:nvPr/>
        </p:nvSpPr>
        <p:spPr>
          <a:xfrm>
            <a:off x="10186143" y="3614615"/>
            <a:ext cx="1717160" cy="528176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186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7A50F8-A557-7639-AF33-3B64D4B25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355" y="867649"/>
            <a:ext cx="4921100" cy="41502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CF1A7E-FD7C-7B98-120A-808C702D8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16" y="289249"/>
            <a:ext cx="6208247" cy="59715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FC369D-0118-BECB-8E0A-7C1019863016}"/>
              </a:ext>
            </a:extLst>
          </p:cNvPr>
          <p:cNvSpPr/>
          <p:nvPr/>
        </p:nvSpPr>
        <p:spPr>
          <a:xfrm>
            <a:off x="5109801" y="2822333"/>
            <a:ext cx="1738868" cy="1525732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627ACA-C384-4981-9F25-91A7BCC7870B}"/>
              </a:ext>
            </a:extLst>
          </p:cNvPr>
          <p:cNvGrpSpPr/>
          <p:nvPr/>
        </p:nvGrpSpPr>
        <p:grpSpPr>
          <a:xfrm>
            <a:off x="6997959" y="3102131"/>
            <a:ext cx="4485447" cy="1271957"/>
            <a:chOff x="6997959" y="3102131"/>
            <a:chExt cx="4485447" cy="12719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6852C1-9CD4-FDB8-F909-11EE9A93BDC4}"/>
                </a:ext>
              </a:extLst>
            </p:cNvPr>
            <p:cNvSpPr/>
            <p:nvPr/>
          </p:nvSpPr>
          <p:spPr>
            <a:xfrm>
              <a:off x="6997959" y="3102131"/>
              <a:ext cx="1318992" cy="345828"/>
            </a:xfrm>
            <a:prstGeom prst="rect">
              <a:avLst/>
            </a:prstGeom>
            <a:noFill/>
            <a:ln w="476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9B7670-6946-E241-EA5F-2F964E753F78}"/>
                </a:ext>
              </a:extLst>
            </p:cNvPr>
            <p:cNvSpPr txBox="1"/>
            <p:nvPr/>
          </p:nvSpPr>
          <p:spPr>
            <a:xfrm>
              <a:off x="7949682" y="3727757"/>
              <a:ext cx="3533724" cy="646331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 the feed you are using</a:t>
              </a:r>
            </a:p>
            <a:p>
              <a:r>
                <a:rPr lang="en-US" dirty="0"/>
                <a:t>To send data to, then click next step</a:t>
              </a:r>
              <a:endParaRPr lang="en-SG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63CC36-6BC3-A04C-6D99-2F6B121975F1}"/>
              </a:ext>
            </a:extLst>
          </p:cNvPr>
          <p:cNvCxnSpPr>
            <a:cxnSpLocks/>
          </p:cNvCxnSpPr>
          <p:nvPr/>
        </p:nvCxnSpPr>
        <p:spPr>
          <a:xfrm>
            <a:off x="11044934" y="4252670"/>
            <a:ext cx="239220" cy="401216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46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6F215-C3BD-3979-7EEE-8D3B4452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79" y="497211"/>
            <a:ext cx="6765666" cy="586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59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621CB8-C128-2D24-B76E-1B5D20D8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952870"/>
            <a:ext cx="4819650" cy="220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128257-565B-1396-A2B4-F534D9770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968004"/>
            <a:ext cx="5905500" cy="180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219C10-F63A-5009-C934-85BC0F95F129}"/>
              </a:ext>
            </a:extLst>
          </p:cNvPr>
          <p:cNvSpPr txBox="1"/>
          <p:nvPr/>
        </p:nvSpPr>
        <p:spPr>
          <a:xfrm>
            <a:off x="485775" y="364956"/>
            <a:ext cx="7450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Setting up the MQTT Connection to Broker (SUBSCRIBER)</a:t>
            </a:r>
            <a:endParaRPr lang="en-SG" sz="24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42EF9A-9A73-C50A-3108-3C75D14F0D76}"/>
              </a:ext>
            </a:extLst>
          </p:cNvPr>
          <p:cNvGrpSpPr/>
          <p:nvPr/>
        </p:nvGrpSpPr>
        <p:grpSpPr>
          <a:xfrm>
            <a:off x="417250" y="3162669"/>
            <a:ext cx="6707450" cy="3247287"/>
            <a:chOff x="417250" y="3162669"/>
            <a:chExt cx="6707450" cy="32472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2E228F9-ACE7-45C5-4445-30370596B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5775" y="3695331"/>
              <a:ext cx="6638925" cy="27146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781DA0-ACDB-59C8-1932-EBD52432A663}"/>
                </a:ext>
              </a:extLst>
            </p:cNvPr>
            <p:cNvSpPr txBox="1"/>
            <p:nvPr/>
          </p:nvSpPr>
          <p:spPr>
            <a:xfrm>
              <a:off x="417250" y="3162669"/>
              <a:ext cx="5437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Connect and Listen for Incoming Messages from Broker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7BEC22-33E7-7A1C-D921-AF397190735D}"/>
              </a:ext>
            </a:extLst>
          </p:cNvPr>
          <p:cNvGrpSpPr/>
          <p:nvPr/>
        </p:nvGrpSpPr>
        <p:grpSpPr>
          <a:xfrm>
            <a:off x="2616826" y="952870"/>
            <a:ext cx="8897149" cy="5609995"/>
            <a:chOff x="2616826" y="952870"/>
            <a:chExt cx="8897149" cy="560999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34DCE2-BD62-CFC8-18F5-8C30A32C87ED}"/>
                </a:ext>
              </a:extLst>
            </p:cNvPr>
            <p:cNvGrpSpPr/>
            <p:nvPr/>
          </p:nvGrpSpPr>
          <p:grpSpPr>
            <a:xfrm>
              <a:off x="6886574" y="952870"/>
              <a:ext cx="4627401" cy="5609995"/>
              <a:chOff x="6886574" y="952870"/>
              <a:chExt cx="4627401" cy="560999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145E556-6358-AF09-D78D-4316BE8F543E}"/>
                  </a:ext>
                </a:extLst>
              </p:cNvPr>
              <p:cNvSpPr/>
              <p:nvPr/>
            </p:nvSpPr>
            <p:spPr>
              <a:xfrm>
                <a:off x="6886574" y="952870"/>
                <a:ext cx="4627401" cy="560999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A8928DB-D8A7-2AF0-F93D-B7331CB30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85800" y="1224217"/>
                <a:ext cx="3267075" cy="5067300"/>
              </a:xfrm>
              <a:prstGeom prst="rect">
                <a:avLst/>
              </a:prstGeom>
            </p:spPr>
          </p:pic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6DBD3C-8034-5A24-D458-DF1A562D7309}"/>
                </a:ext>
              </a:extLst>
            </p:cNvPr>
            <p:cNvSpPr/>
            <p:nvPr/>
          </p:nvSpPr>
          <p:spPr>
            <a:xfrm>
              <a:off x="2616826" y="5052643"/>
              <a:ext cx="891484" cy="363894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426DB4B-B98A-A65E-2E7F-ACB85B50E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8310" y="1872879"/>
              <a:ext cx="4525347" cy="32897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90DBDB0-0A0B-CD43-1750-C3224C8E2C41}"/>
              </a:ext>
            </a:extLst>
          </p:cNvPr>
          <p:cNvGrpSpPr/>
          <p:nvPr/>
        </p:nvGrpSpPr>
        <p:grpSpPr>
          <a:xfrm>
            <a:off x="7452440" y="2057770"/>
            <a:ext cx="4253785" cy="959367"/>
            <a:chOff x="7452440" y="2057770"/>
            <a:chExt cx="4253785" cy="95936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BAB595-1320-B66D-1059-FEDDEFDFEA57}"/>
                </a:ext>
              </a:extLst>
            </p:cNvPr>
            <p:cNvSpPr/>
            <p:nvPr/>
          </p:nvSpPr>
          <p:spPr>
            <a:xfrm>
              <a:off x="9296399" y="2057770"/>
              <a:ext cx="1116563" cy="363894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03961C9-588F-0107-BF79-DF7CF6F16577}"/>
                </a:ext>
              </a:extLst>
            </p:cNvPr>
            <p:cNvGrpSpPr/>
            <p:nvPr/>
          </p:nvGrpSpPr>
          <p:grpSpPr>
            <a:xfrm>
              <a:off x="7452440" y="2538371"/>
              <a:ext cx="4253785" cy="478766"/>
              <a:chOff x="3316060" y="3445029"/>
              <a:chExt cx="4253785" cy="47876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328EC60-45C0-68DC-0DEE-18F99FAA9087}"/>
                  </a:ext>
                </a:extLst>
              </p:cNvPr>
              <p:cNvSpPr/>
              <p:nvPr/>
            </p:nvSpPr>
            <p:spPr>
              <a:xfrm>
                <a:off x="3316060" y="3445029"/>
                <a:ext cx="4253785" cy="478766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8A3F6B-846B-6172-05D5-B1C3835CAEA1}"/>
                  </a:ext>
                </a:extLst>
              </p:cNvPr>
              <p:cNvSpPr txBox="1"/>
              <p:nvPr/>
            </p:nvSpPr>
            <p:spPr>
              <a:xfrm>
                <a:off x="3438525" y="3532001"/>
                <a:ext cx="40543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Message is decoded from binary to string</a:t>
                </a:r>
                <a:endParaRPr lang="en-SG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615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F194-6C0E-4394-B5A6-B69E0D23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6137F-EB41-B302-A678-8F6562E00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575" y="952870"/>
            <a:ext cx="4819650" cy="2209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B8AEDF-B723-5F2E-87E6-584E4D4AA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968004"/>
            <a:ext cx="5905500" cy="180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55B19C-0DEE-0B29-F263-1472AF2E74BC}"/>
              </a:ext>
            </a:extLst>
          </p:cNvPr>
          <p:cNvSpPr txBox="1"/>
          <p:nvPr/>
        </p:nvSpPr>
        <p:spPr>
          <a:xfrm>
            <a:off x="485775" y="364956"/>
            <a:ext cx="7282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Setting up the MQTT Connection to Broker (PUBLISHER)</a:t>
            </a:r>
            <a:endParaRPr lang="en-SG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A386F0-D543-B0FD-F0B2-EB8999627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4" y="2328898"/>
            <a:ext cx="6096000" cy="47625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B33E1E-61AD-B5DD-4452-DF76F6C336A4}"/>
              </a:ext>
            </a:extLst>
          </p:cNvPr>
          <p:cNvGrpSpPr/>
          <p:nvPr/>
        </p:nvGrpSpPr>
        <p:grpSpPr>
          <a:xfrm>
            <a:off x="485774" y="2805148"/>
            <a:ext cx="7038975" cy="3952875"/>
            <a:chOff x="485774" y="2805148"/>
            <a:chExt cx="7038975" cy="39528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17687B3-4DCF-E1C5-2E73-57C5F417F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5774" y="2805148"/>
              <a:ext cx="7038975" cy="395287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1A0CD7-371C-E132-9FF0-54F3178AFE0C}"/>
                </a:ext>
              </a:extLst>
            </p:cNvPr>
            <p:cNvSpPr txBox="1"/>
            <p:nvPr/>
          </p:nvSpPr>
          <p:spPr>
            <a:xfrm>
              <a:off x="815113" y="2912066"/>
              <a:ext cx="3961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Connect and Publish Message to Broker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99B976-D6D9-241A-25C1-775CED1E3D14}"/>
              </a:ext>
            </a:extLst>
          </p:cNvPr>
          <p:cNvGrpSpPr/>
          <p:nvPr/>
        </p:nvGrpSpPr>
        <p:grpSpPr>
          <a:xfrm>
            <a:off x="1240971" y="4924334"/>
            <a:ext cx="9162660" cy="1168555"/>
            <a:chOff x="1240971" y="4924334"/>
            <a:chExt cx="9162660" cy="116855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144C4F8-8774-EEC6-2F1A-73ABB0310628}"/>
                </a:ext>
              </a:extLst>
            </p:cNvPr>
            <p:cNvGrpSpPr/>
            <p:nvPr/>
          </p:nvGrpSpPr>
          <p:grpSpPr>
            <a:xfrm>
              <a:off x="1240971" y="4924334"/>
              <a:ext cx="9162660" cy="1168555"/>
              <a:chOff x="1240971" y="4924334"/>
              <a:chExt cx="9162660" cy="116855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9163F8D-1AF8-E203-9FA5-A4DCD38B28CC}"/>
                  </a:ext>
                </a:extLst>
              </p:cNvPr>
              <p:cNvSpPr/>
              <p:nvPr/>
            </p:nvSpPr>
            <p:spPr>
              <a:xfrm>
                <a:off x="1240971" y="4951728"/>
                <a:ext cx="4935894" cy="1141161"/>
              </a:xfrm>
              <a:prstGeom prst="rect">
                <a:avLst/>
              </a:prstGeom>
              <a:noFill/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523D9C1-C766-760D-D671-95C60E5D7B9E}"/>
                  </a:ext>
                </a:extLst>
              </p:cNvPr>
              <p:cNvSpPr/>
              <p:nvPr/>
            </p:nvSpPr>
            <p:spPr>
              <a:xfrm>
                <a:off x="6176865" y="4924334"/>
                <a:ext cx="4226766" cy="114116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479EE6-AC4E-A00A-C2FD-31263296600F}"/>
                </a:ext>
              </a:extLst>
            </p:cNvPr>
            <p:cNvSpPr txBox="1"/>
            <p:nvPr/>
          </p:nvSpPr>
          <p:spPr>
            <a:xfrm>
              <a:off x="6455258" y="4981800"/>
              <a:ext cx="366997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Temperature reading from the dht11.</a:t>
              </a:r>
            </a:p>
            <a:p>
              <a:r>
                <a:rPr lang="en-US" dirty="0"/>
                <a:t>Message must be converted to String</a:t>
              </a:r>
            </a:p>
            <a:p>
              <a:r>
                <a:rPr lang="en-US" dirty="0"/>
                <a:t>and encoded to binary/bytes</a:t>
              </a:r>
              <a:endParaRPr lang="en-SG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35C2530C-B888-063C-4F1C-FFFD63D0FB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318" y="6092889"/>
            <a:ext cx="34290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7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C5F387-758A-C720-D584-92A41F4F0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638008"/>
            <a:ext cx="4743450" cy="3152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0E251-6AEC-828B-869A-211B7901D0B9}"/>
              </a:ext>
            </a:extLst>
          </p:cNvPr>
          <p:cNvSpPr txBox="1"/>
          <p:nvPr/>
        </p:nvSpPr>
        <p:spPr>
          <a:xfrm>
            <a:off x="1455576" y="849085"/>
            <a:ext cx="538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MQTT – QUALITY OF MESSAGE DELIVERY</a:t>
            </a:r>
            <a:endParaRPr lang="en-SG" sz="24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C49FF7-44C1-F290-7EC4-202129C6798B}"/>
              </a:ext>
            </a:extLst>
          </p:cNvPr>
          <p:cNvGrpSpPr/>
          <p:nvPr/>
        </p:nvGrpSpPr>
        <p:grpSpPr>
          <a:xfrm>
            <a:off x="2034074" y="3601616"/>
            <a:ext cx="3676261" cy="1726164"/>
            <a:chOff x="2034074" y="3601616"/>
            <a:chExt cx="3676261" cy="17261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152D253-E487-C36F-4959-E4CDFDC852E5}"/>
                </a:ext>
              </a:extLst>
            </p:cNvPr>
            <p:cNvGrpSpPr/>
            <p:nvPr/>
          </p:nvGrpSpPr>
          <p:grpSpPr>
            <a:xfrm>
              <a:off x="2034074" y="3764416"/>
              <a:ext cx="961053" cy="1026367"/>
              <a:chOff x="8836090" y="3713584"/>
              <a:chExt cx="961053" cy="1026367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E294F02-DE2B-2AB2-B4E0-FC70203C8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36090" y="3778897"/>
                <a:ext cx="961053" cy="895739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248F2EF-9AF6-ACA1-9A45-CDA551EA18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36090" y="3713584"/>
                <a:ext cx="783771" cy="1026367"/>
              </a:xfrm>
              <a:prstGeom prst="line">
                <a:avLst/>
              </a:prstGeom>
              <a:ln w="476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79F78D-B07F-C239-6C9B-18A6AB6F8BC5}"/>
                </a:ext>
              </a:extLst>
            </p:cNvPr>
            <p:cNvSpPr/>
            <p:nvPr/>
          </p:nvSpPr>
          <p:spPr>
            <a:xfrm>
              <a:off x="4040155" y="3601616"/>
              <a:ext cx="1670180" cy="1726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Adafaruit</a:t>
              </a:r>
              <a:r>
                <a:rPr lang="en-US" dirty="0"/>
                <a:t> io does not support </a:t>
              </a:r>
              <a:r>
                <a:rPr lang="en-US" dirty="0" err="1"/>
                <a:t>qos</a:t>
              </a:r>
              <a:r>
                <a:rPr lang="en-US" dirty="0"/>
                <a:t> 2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125210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8F9AB-36BB-A601-1896-77F067F67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42" y="1392083"/>
            <a:ext cx="4362450" cy="15525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A8816B-2A7F-F01C-4A93-521B40454808}"/>
              </a:ext>
            </a:extLst>
          </p:cNvPr>
          <p:cNvSpPr/>
          <p:nvPr/>
        </p:nvSpPr>
        <p:spPr>
          <a:xfrm>
            <a:off x="1225028" y="2255834"/>
            <a:ext cx="3468270" cy="24477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3D6DCED-031A-9DC9-FCBF-B5FC980E7237}"/>
              </a:ext>
            </a:extLst>
          </p:cNvPr>
          <p:cNvGrpSpPr/>
          <p:nvPr/>
        </p:nvGrpSpPr>
        <p:grpSpPr>
          <a:xfrm>
            <a:off x="1074063" y="3539243"/>
            <a:ext cx="3757054" cy="2358579"/>
            <a:chOff x="1074063" y="3539243"/>
            <a:chExt cx="3757054" cy="23585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D7074E5-4A36-E376-AA7C-2A85A58AD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942" y="3983297"/>
              <a:ext cx="3686175" cy="191452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F13E85-5EE2-3721-122B-D3BEB5B2AE25}"/>
                </a:ext>
              </a:extLst>
            </p:cNvPr>
            <p:cNvSpPr txBox="1"/>
            <p:nvPr/>
          </p:nvSpPr>
          <p:spPr>
            <a:xfrm>
              <a:off x="1074063" y="3539243"/>
              <a:ext cx="3757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Download using the package manager</a:t>
              </a:r>
              <a:endParaRPr lang="en-SG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795CE99-9C7A-F8B2-2166-DB6D56053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9962" y="1258733"/>
            <a:ext cx="6229350" cy="168592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8A645A75-94E6-003E-DA48-A6648A131432}"/>
              </a:ext>
            </a:extLst>
          </p:cNvPr>
          <p:cNvSpPr/>
          <p:nvPr/>
        </p:nvSpPr>
        <p:spPr>
          <a:xfrm rot="7742368">
            <a:off x="10061515" y="122141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4ECBCD-8EB9-B51D-3F50-41EAABAE8CE7}"/>
              </a:ext>
            </a:extLst>
          </p:cNvPr>
          <p:cNvGrpSpPr/>
          <p:nvPr/>
        </p:nvGrpSpPr>
        <p:grpSpPr>
          <a:xfrm>
            <a:off x="5285986" y="3178434"/>
            <a:ext cx="6229350" cy="1609725"/>
            <a:chOff x="5285986" y="3178434"/>
            <a:chExt cx="6229350" cy="16097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DFA4B71-9431-8E76-F3BC-BBB06A78F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5986" y="3178434"/>
              <a:ext cx="6229350" cy="1609725"/>
            </a:xfrm>
            <a:prstGeom prst="rect">
              <a:avLst/>
            </a:prstGeom>
          </p:spPr>
        </p:pic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445E7C1-9735-D07F-7D20-AF7B74A8B093}"/>
                </a:ext>
              </a:extLst>
            </p:cNvPr>
            <p:cNvSpPr/>
            <p:nvPr/>
          </p:nvSpPr>
          <p:spPr>
            <a:xfrm rot="7742368">
              <a:off x="7256110" y="374098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1CEF5B7-B027-05DB-9419-7E0DD1F0E222}"/>
              </a:ext>
            </a:extLst>
          </p:cNvPr>
          <p:cNvSpPr/>
          <p:nvPr/>
        </p:nvSpPr>
        <p:spPr>
          <a:xfrm>
            <a:off x="6410130" y="5060426"/>
            <a:ext cx="3019099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</a:t>
            </a:r>
            <a:r>
              <a:rPr lang="en-US" dirty="0" err="1"/>
              <a:t>umqtt.simple</a:t>
            </a:r>
            <a:r>
              <a:rPr lang="en-US" dirty="0"/>
              <a:t> and then click Install to Install Package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8EF6C-257A-C964-82EC-1AC452AF12F0}"/>
              </a:ext>
            </a:extLst>
          </p:cNvPr>
          <p:cNvSpPr txBox="1"/>
          <p:nvPr/>
        </p:nvSpPr>
        <p:spPr>
          <a:xfrm>
            <a:off x="1074063" y="433315"/>
            <a:ext cx="4737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Installing the </a:t>
            </a:r>
            <a:r>
              <a:rPr lang="en-US" sz="2400" b="1" dirty="0" err="1"/>
              <a:t>umqtt.simple</a:t>
            </a:r>
            <a:r>
              <a:rPr lang="en-US" sz="2400" b="1" dirty="0"/>
              <a:t> package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72089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38A161-C03C-1F72-E24A-6BBF81D13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72" y="524384"/>
            <a:ext cx="4216080" cy="19968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62563-5074-0BB9-7AD3-4606485C7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484" y="3616171"/>
            <a:ext cx="4677535" cy="2766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1AD9FF-0BC8-2F56-EC0D-660E0F116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09" y="2521258"/>
            <a:ext cx="2139975" cy="159761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EF152E-F86C-C0FD-923E-8A0602D39380}"/>
              </a:ext>
            </a:extLst>
          </p:cNvPr>
          <p:cNvSpPr/>
          <p:nvPr/>
        </p:nvSpPr>
        <p:spPr>
          <a:xfrm>
            <a:off x="6540484" y="2645546"/>
            <a:ext cx="701336" cy="532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2FC4A-6473-3048-32B0-179F68A94697}"/>
              </a:ext>
            </a:extLst>
          </p:cNvPr>
          <p:cNvSpPr txBox="1"/>
          <p:nvPr/>
        </p:nvSpPr>
        <p:spPr>
          <a:xfrm>
            <a:off x="7732451" y="1136342"/>
            <a:ext cx="1859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MQTT DEMO</a:t>
            </a:r>
            <a:endParaRPr lang="en-SG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509699-D3E5-E4EF-E0AC-64CF21BB0A01}"/>
              </a:ext>
            </a:extLst>
          </p:cNvPr>
          <p:cNvGrpSpPr/>
          <p:nvPr/>
        </p:nvGrpSpPr>
        <p:grpSpPr>
          <a:xfrm>
            <a:off x="1779131" y="2645546"/>
            <a:ext cx="9593941" cy="988381"/>
            <a:chOff x="1779131" y="2645546"/>
            <a:chExt cx="9593941" cy="98838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870DBB-268A-2C92-F69A-F59A4CB85DEF}"/>
                </a:ext>
              </a:extLst>
            </p:cNvPr>
            <p:cNvSpPr txBox="1"/>
            <p:nvPr/>
          </p:nvSpPr>
          <p:spPr>
            <a:xfrm>
              <a:off x="1779131" y="2645546"/>
              <a:ext cx="16353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boiler_room.py</a:t>
              </a:r>
              <a:endParaRPr lang="en-S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7303EB-B385-7598-5301-F4ABA509494D}"/>
                </a:ext>
              </a:extLst>
            </p:cNvPr>
            <p:cNvSpPr txBox="1"/>
            <p:nvPr/>
          </p:nvSpPr>
          <p:spPr>
            <a:xfrm>
              <a:off x="9086933" y="3264595"/>
              <a:ext cx="2286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boiler_room_alarm.py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81804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52FCEDF-0CE3-2BBD-CBD3-467108038FA6}"/>
              </a:ext>
            </a:extLst>
          </p:cNvPr>
          <p:cNvGrpSpPr/>
          <p:nvPr/>
        </p:nvGrpSpPr>
        <p:grpSpPr>
          <a:xfrm>
            <a:off x="1147762" y="990600"/>
            <a:ext cx="9896475" cy="4876800"/>
            <a:chOff x="1147762" y="990600"/>
            <a:chExt cx="9896475" cy="48768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1BAB08-3C35-DBB9-41A8-FC1F06212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7762" y="990600"/>
              <a:ext cx="9896475" cy="48768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DE406C-3F4C-E32E-95B8-C698E82E5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3280560" y="1311861"/>
              <a:ext cx="230880" cy="320426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94B1D7-3CE8-B83B-B287-BBD7BF152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3333824" y="3475042"/>
              <a:ext cx="230880" cy="3204263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6D71354-7488-9EB1-5936-D506636AA505}"/>
              </a:ext>
            </a:extLst>
          </p:cNvPr>
          <p:cNvSpPr txBox="1"/>
          <p:nvPr/>
        </p:nvSpPr>
        <p:spPr>
          <a:xfrm>
            <a:off x="1452395" y="1278403"/>
            <a:ext cx="3654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Simulation of Boiler Room - Monitor</a:t>
            </a:r>
            <a:endParaRPr lang="en-SG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92BFA-443E-2272-8DF7-8AF826D6D553}"/>
              </a:ext>
            </a:extLst>
          </p:cNvPr>
          <p:cNvSpPr txBox="1"/>
          <p:nvPr/>
        </p:nvSpPr>
        <p:spPr>
          <a:xfrm>
            <a:off x="3279787" y="425971"/>
            <a:ext cx="5946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MQTT – Message Queue Telemetry Transport</a:t>
            </a:r>
            <a:endParaRPr lang="en-SG" sz="2400" b="1" dirty="0"/>
          </a:p>
        </p:txBody>
      </p:sp>
    </p:spTree>
    <p:extLst>
      <p:ext uri="{BB962C8B-B14F-4D97-AF65-F5344CB8AC3E}">
        <p14:creationId xmlns:p14="http://schemas.microsoft.com/office/powerpoint/2010/main" val="3526481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DEC390A-8F12-C184-509B-5FC5B4511141}"/>
              </a:ext>
            </a:extLst>
          </p:cNvPr>
          <p:cNvGrpSpPr/>
          <p:nvPr/>
        </p:nvGrpSpPr>
        <p:grpSpPr>
          <a:xfrm>
            <a:off x="1477555" y="687745"/>
            <a:ext cx="9705975" cy="6076950"/>
            <a:chOff x="843073" y="529123"/>
            <a:chExt cx="9705975" cy="607695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6D011-5EB4-EB27-EE01-A624E30E1344}"/>
                </a:ext>
              </a:extLst>
            </p:cNvPr>
            <p:cNvGrpSpPr/>
            <p:nvPr/>
          </p:nvGrpSpPr>
          <p:grpSpPr>
            <a:xfrm>
              <a:off x="843073" y="529123"/>
              <a:ext cx="9705975" cy="6076950"/>
              <a:chOff x="-1599591" y="781050"/>
              <a:chExt cx="9705975" cy="6076950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CFF8B2B-86E0-FBFE-A6BE-9947AE02F047}"/>
                  </a:ext>
                </a:extLst>
              </p:cNvPr>
              <p:cNvGrpSpPr/>
              <p:nvPr/>
            </p:nvGrpSpPr>
            <p:grpSpPr>
              <a:xfrm>
                <a:off x="-1599591" y="781050"/>
                <a:ext cx="9705975" cy="6076950"/>
                <a:chOff x="-4314799" y="781050"/>
                <a:chExt cx="9705975" cy="607695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7552C147-DF39-10E5-AC87-3BA4DC3E91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-4314799" y="781050"/>
                  <a:ext cx="9705975" cy="6076950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646089D-2349-00E0-5979-9A8DB219F966}"/>
                    </a:ext>
                  </a:extLst>
                </p:cNvPr>
                <p:cNvSpPr txBox="1"/>
                <p:nvPr/>
              </p:nvSpPr>
              <p:spPr>
                <a:xfrm>
                  <a:off x="3853543" y="4063894"/>
                  <a:ext cx="345233" cy="461665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dirty="0">
                      <a:solidFill>
                        <a:srgbClr val="FFFF00"/>
                      </a:solidFill>
                    </a:rPr>
                    <a:t>+</a:t>
                  </a:r>
                  <a:endParaRPr lang="en-SG" sz="2400" b="1" dirty="0">
                    <a:solidFill>
                      <a:srgbClr val="FFFF00"/>
                    </a:solidFill>
                  </a:endParaRPr>
                </a:p>
              </p:txBody>
            </p:sp>
          </p:grp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4B970E0-4BF7-FAEB-5387-2374E73BA5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5801" y="4063894"/>
                <a:ext cx="714375" cy="361950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CFE0D8-95D1-507E-B324-BACB52EB5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3165153" y="1281596"/>
              <a:ext cx="230880" cy="32752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CEEED4-2B23-61A6-3856-73E4E16A7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3200662" y="3492798"/>
              <a:ext cx="230880" cy="3204263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2DCF2A-7839-9AC9-4FAB-989E597C0B69}"/>
              </a:ext>
            </a:extLst>
          </p:cNvPr>
          <p:cNvSpPr txBox="1"/>
          <p:nvPr/>
        </p:nvSpPr>
        <p:spPr>
          <a:xfrm>
            <a:off x="3279787" y="425971"/>
            <a:ext cx="5946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MQTT – Message Queue Telemetry Transport</a:t>
            </a:r>
            <a:endParaRPr lang="en-SG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DA6A92-A6B0-D436-E2BD-3DD0B67865A2}"/>
              </a:ext>
            </a:extLst>
          </p:cNvPr>
          <p:cNvSpPr txBox="1"/>
          <p:nvPr/>
        </p:nvSpPr>
        <p:spPr>
          <a:xfrm>
            <a:off x="1477555" y="1271083"/>
            <a:ext cx="279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Remote Boiler Room Alarm</a:t>
            </a:r>
            <a:endParaRPr lang="en-SG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26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386</Words>
  <Application>Microsoft Office PowerPoint</Application>
  <PresentationFormat>Widescreen</PresentationFormat>
  <Paragraphs>92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16</cp:revision>
  <dcterms:created xsi:type="dcterms:W3CDTF">2026-02-21T02:19:16Z</dcterms:created>
  <dcterms:modified xsi:type="dcterms:W3CDTF">2026-03-08T00:37:03Z</dcterms:modified>
</cp:coreProperties>
</file>